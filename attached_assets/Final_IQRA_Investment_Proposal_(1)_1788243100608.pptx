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  <p:embeddedFont>
      <p:font typeface="Playfair Display SemiBold" panose="020B0604020202020204" charset="0"/>
      <p:regular r:id="rId30"/>
      <p:bold r:id="rId31"/>
      <p:italic r:id="rId32"/>
      <p:boldItalic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  <p:embeddedFont>
      <p:font typeface="Plus Jakarta Sans ExtraBold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4F1D28-9251-4464-B071-091EB6F306C0}">
  <a:tblStyle styleId="{184F1D28-9251-4464-B071-091EB6F306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283E460-8189-3C39-31C6-486F1FE8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03A59BB-6F09-66F2-CE58-27F6C5EC5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A8B307-AD87-B4E6-C8FE-E3FE24794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6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3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Bismillahirrahmanirrahim Hd">
            <a:extLst>
              <a:ext uri="{FF2B5EF4-FFF2-40B4-BE49-F238E27FC236}">
                <a16:creationId xmlns:a16="http://schemas.microsoft.com/office/drawing/2014/main" id="{F349746A-48E1-4527-9277-FD5BB6B6B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6015" y="1934007"/>
            <a:ext cx="5979970" cy="2989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5BBD290-BFD9-CB55-73D8-C35B4AD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AAA3085-7D50-C5CD-6542-8B1E1EA618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68992DD3-840E-1067-21FF-11B5EA36B0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B4CFC27-C6A7-6A1E-2FB2-1C59F4623808}"/>
              </a:ext>
            </a:extLst>
          </p:cNvPr>
          <p:cNvSpPr txBox="1"/>
          <p:nvPr/>
        </p:nvSpPr>
        <p:spPr>
          <a:xfrm>
            <a:off x="3505676" y="1814544"/>
            <a:ext cx="51806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INVESTMENT PROPOSAL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64D6B09-AF89-BA51-D519-09D80F077D21}"/>
              </a:ext>
            </a:extLst>
          </p:cNvPr>
          <p:cNvSpPr txBox="1"/>
          <p:nvPr/>
        </p:nvSpPr>
        <p:spPr>
          <a:xfrm>
            <a:off x="1790085" y="4964060"/>
            <a:ext cx="8572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 dirty="0">
                <a:solidFill>
                  <a:srgbClr val="ECFDF5"/>
                </a:solidFill>
                <a:latin typeface="Lato Light"/>
                <a:ea typeface="Lato Light"/>
                <a:cs typeface="Lato Light"/>
                <a:sym typeface="Lato Light"/>
              </a:rPr>
              <a:t>Authenticated Islamic knowledge for the age of generative AI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EB12A626-D171-9B5B-BD23-515E953CC2BF}"/>
              </a:ext>
            </a:extLst>
          </p:cNvPr>
          <p:cNvSpPr txBox="1"/>
          <p:nvPr/>
        </p:nvSpPr>
        <p:spPr>
          <a:xfrm>
            <a:off x="4266586" y="551264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EE7B7"/>
                </a:solidFill>
                <a:latin typeface="Lato"/>
                <a:ea typeface="Lato"/>
                <a:cs typeface="Lato"/>
                <a:sym typeface="Lato"/>
              </a:rPr>
              <a:t>SEED ROUND · 2026 · CONFIDENTIAL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526DC5D9-61C1-ED75-5D0E-4B288B58377B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2515B901-6996-2254-2C22-38C53573340B}"/>
              </a:ext>
            </a:extLst>
          </p:cNvPr>
          <p:cNvSpPr txBox="1"/>
          <p:nvPr/>
        </p:nvSpPr>
        <p:spPr>
          <a:xfrm>
            <a:off x="11210925" y="6457950"/>
            <a:ext cx="62711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01 / 15</a:t>
            </a:r>
            <a:endParaRPr dirty="0"/>
          </a:p>
        </p:txBody>
      </p:sp>
      <p:pic>
        <p:nvPicPr>
          <p:cNvPr id="92" name="Google Shape;92;p13" descr="image.png">
            <a:extLst>
              <a:ext uri="{FF2B5EF4-FFF2-40B4-BE49-F238E27FC236}">
                <a16:creationId xmlns:a16="http://schemas.microsoft.com/office/drawing/2014/main" id="{F1B00B15-47C3-C7C6-6A2B-6D9D8FD095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4412" y="4473189"/>
            <a:ext cx="10953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>
            <a:extLst>
              <a:ext uri="{FF2B5EF4-FFF2-40B4-BE49-F238E27FC236}">
                <a16:creationId xmlns:a16="http://schemas.microsoft.com/office/drawing/2014/main" id="{5EFE0258-C7D3-FD37-A8EA-A5B78645C00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5537" y="4473189"/>
            <a:ext cx="116205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25C0ECF-D067-A0D1-8A3E-2D5D1E2EFEAB}"/>
              </a:ext>
            </a:extLst>
          </p:cNvPr>
          <p:cNvGrpSpPr/>
          <p:nvPr/>
        </p:nvGrpSpPr>
        <p:grpSpPr>
          <a:xfrm>
            <a:off x="4270592" y="262865"/>
            <a:ext cx="3564863" cy="1574771"/>
            <a:chOff x="4270592" y="262865"/>
            <a:chExt cx="3564863" cy="1574771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40E2617-DB25-78A6-E350-8FE9CBA54AF2}"/>
                </a:ext>
              </a:extLst>
            </p:cNvPr>
            <p:cNvSpPr/>
            <p:nvPr/>
          </p:nvSpPr>
          <p:spPr>
            <a:xfrm>
              <a:off x="4270592" y="1332812"/>
              <a:ext cx="3564863" cy="5048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kern="0" spc="864" dirty="0">
                  <a:solidFill>
                    <a:srgbClr val="F4EFE3"/>
                  </a:solidFill>
                  <a:latin typeface="Fraunces" pitchFamily="34" charset="0"/>
                  <a:ea typeface="Fraunces" pitchFamily="34" charset="-122"/>
                  <a:cs typeface="Fraunces" pitchFamily="34" charset="-120"/>
                </a:rPr>
                <a:t>IQRA</a:t>
              </a:r>
              <a:endParaRPr lang="en-US" sz="280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77CF55-423E-DD72-DD2F-126502BCE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36423"/>
            <a:stretch>
              <a:fillRect/>
            </a:stretch>
          </p:blipFill>
          <p:spPr>
            <a:xfrm>
              <a:off x="5085201" y="262865"/>
              <a:ext cx="1905142" cy="122497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45B470-FC2A-5385-E5BD-F22549F8D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933124" y="2319368"/>
            <a:ext cx="2209295" cy="2209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3B2C14-AFAE-9D40-ED98-DC7DBE4812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210925" y="6457950"/>
            <a:ext cx="56812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02 / 1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5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76DE7D-606E-7429-D2AB-9ADDC01EDF05}"/>
              </a:ext>
            </a:extLst>
          </p:cNvPr>
          <p:cNvGrpSpPr/>
          <p:nvPr/>
        </p:nvGrpSpPr>
        <p:grpSpPr>
          <a:xfrm>
            <a:off x="571500" y="2511399"/>
            <a:ext cx="11049000" cy="2778919"/>
            <a:chOff x="571500" y="2894855"/>
            <a:chExt cx="11049000" cy="2778919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238250" y="2942480"/>
              <a:ext cx="1038225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General AI answers faith questions probabilistically, producing unverifiable rulings</a:t>
              </a:r>
              <a:endParaRPr dirty="0"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238250" y="3515766"/>
              <a:ext cx="1038225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IQRA is a live assistant that anchors every answer in authenticated sources and a verified chain of transmission</a:t>
              </a:r>
              <a:endParaRPr dirty="0"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38250" y="4089052"/>
              <a:ext cx="1038225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market: 2 billion Muslims and a $2.4 trillion Islamic economy</a:t>
              </a:r>
              <a:endParaRPr dirty="0"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1238250" y="4662338"/>
              <a:ext cx="1038225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model scales from donations to premium tooling to B2B licensing</a:t>
              </a:r>
              <a:endParaRPr dirty="0"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238250" y="5235624"/>
              <a:ext cx="1038225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ask: $2.5M to reach 1M daily users and B2B revenue within 24 months</a:t>
              </a:r>
              <a:endParaRPr dirty="0"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571500" y="2894855"/>
              <a:ext cx="314325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01</a:t>
              </a:r>
              <a:endParaRPr dirty="0"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571500" y="3468141"/>
              <a:ext cx="361950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02</a:t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571500" y="4041427"/>
              <a:ext cx="352425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03</a:t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571500" y="4614713"/>
              <a:ext cx="361950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04</a:t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571500" y="5187999"/>
              <a:ext cx="342900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05</a:t>
              </a:r>
              <a:endParaRPr/>
            </a:p>
          </p:txBody>
        </p:sp>
      </p:grp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EXECUTIVE SUMMARY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71500" y="1657350"/>
            <a:ext cx="901495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IQRA is a live, source-grounded Islamic assistant raising $2.5M to reach scale</a:t>
            </a:r>
            <a:endParaRPr dirty="0"/>
          </a:p>
        </p:txBody>
      </p:sp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D3A86AA3-93DA-8551-D581-EF169816B474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72711-E0D2-3673-6535-393CEE67B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4876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257300"/>
            <a:ext cx="4953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1500034"/>
            <a:ext cx="6065274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Generative AI is manufacturing religious rulings it cannot authenticate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7439769"/>
            <a:ext cx="4953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Source: Pew Research Center, 2025.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208004" y="6407839"/>
            <a:ext cx="114576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03 / 15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1047749" y="2890714"/>
            <a:ext cx="5461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General LLMs predict plausible text, not verified rulings</a:t>
            </a:r>
            <a:endParaRPr sz="1500"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047749" y="3612355"/>
            <a:ext cx="54612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result is doctrinal drift: fabricated citations, blended traditions, confident errors at scale</a:t>
            </a:r>
            <a:endParaRPr sz="1500"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1047749" y="4550290"/>
            <a:ext cx="54612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2 billion Muslims are already asking these questions online; a wrong answer carries real spiritual weight</a:t>
            </a:r>
            <a:endParaRPr sz="1500"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1047749" y="5567760"/>
            <a:ext cx="54612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No mainstream assistant grounds guidance in an authenticated chain of transmission</a:t>
            </a:r>
            <a:endParaRPr sz="1500" dirty="0"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9583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7684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467688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569434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Leading Trainers of Generative AI for Leadership Course| Expert ...">
            <a:extLst>
              <a:ext uri="{FF2B5EF4-FFF2-40B4-BE49-F238E27FC236}">
                <a16:creationId xmlns:a16="http://schemas.microsoft.com/office/drawing/2014/main" id="{898E55DC-67D5-C654-F507-A84FDC508663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7152572" y="1231095"/>
            <a:ext cx="4395809" cy="4395809"/>
          </a:xfrm>
          <a:prstGeom prst="rect">
            <a:avLst/>
          </a:prstGeom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EE24458A-7FDF-99F6-7237-76AB5CCD89F6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0B849-1F6C-502D-2064-9E51571993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11210925" y="6457950"/>
            <a:ext cx="76476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04 / 15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1657350"/>
            <a:ext cx="6104603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IQRA anchors every answer in authenticated sources and scholarly governance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1047750" y="2777682"/>
            <a:ext cx="4762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Retrieval-grounded assistant: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every answer ties back to classical texts, not model guesswork</a:t>
            </a:r>
            <a:endParaRPr sz="1500"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1047750" y="3607468"/>
            <a:ext cx="4762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Five knowledge domains: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creed, jurisprudence of transactions, hadith authentication, ethics, and history</a:t>
            </a:r>
            <a:endParaRPr sz="1500"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047750" y="4408624"/>
            <a:ext cx="4762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Zero Comparative Religion policy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and a total ban on optimizing Haram activity — guardrails built in, not bolted on</a:t>
            </a:r>
            <a:endParaRPr sz="150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1047750" y="5337596"/>
            <a:ext cx="4762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Every answer is tagged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with its scriptural anchor so users can verify the source.</a:t>
            </a:r>
            <a:endParaRPr sz="1500" dirty="0"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90427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7242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46925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5464184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SOLUTION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Solution - Free miscellaneous icons">
            <a:extLst>
              <a:ext uri="{FF2B5EF4-FFF2-40B4-BE49-F238E27FC236}">
                <a16:creationId xmlns:a16="http://schemas.microsoft.com/office/drawing/2014/main" id="{72E5D66D-08A2-2CCC-8D7E-F769179CE2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603" y="1752600"/>
            <a:ext cx="4245264" cy="4245264"/>
          </a:xfrm>
          <a:prstGeom prst="rect">
            <a:avLst/>
          </a:prstGeom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F14EDCFE-D208-8EDC-D0AD-2067346EC6EB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62C12-0AE9-BDE8-2928-87783F5AAA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1210925" y="6457950"/>
            <a:ext cx="981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05 / 15</a:t>
            </a:r>
            <a:endParaRPr dirty="0"/>
          </a:p>
        </p:txBody>
      </p:sp>
      <p:sp>
        <p:nvSpPr>
          <p:cNvPr id="165" name="Google Shape;165;p17"/>
          <p:cNvSpPr/>
          <p:nvPr/>
        </p:nvSpPr>
        <p:spPr>
          <a:xfrm>
            <a:off x="571500" y="2192812"/>
            <a:ext cx="11049000" cy="3928020"/>
          </a:xfrm>
          <a:prstGeom prst="roundRect">
            <a:avLst>
              <a:gd name="adj" fmla="val 0"/>
            </a:avLst>
          </a:prstGeom>
          <a:solidFill>
            <a:srgbClr val="064E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7"/>
          <p:cNvGraphicFramePr/>
          <p:nvPr>
            <p:extLst>
              <p:ext uri="{D42A27DB-BD31-4B8C-83A1-F6EECF244321}">
                <p14:modId xmlns:p14="http://schemas.microsoft.com/office/powerpoint/2010/main" val="2397620675"/>
              </p:ext>
            </p:extLst>
          </p:nvPr>
        </p:nvGraphicFramePr>
        <p:xfrm>
          <a:off x="571500" y="2182981"/>
          <a:ext cx="11039475" cy="3928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2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BUILT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STATUS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web app + installable PWA, secure accounts, multi-thread 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at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iqra.live</a:t>
                      </a: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 &amp;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Knowledge base of 3,00,000+ classical source documents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Ingested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2000+ curated scholar-style Q&amp;A pairs guiding answer quality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Active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Donations, admin knowledge management, growth analytics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Operational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7"/>
          <p:cNvSpPr/>
          <p:nvPr/>
        </p:nvSpPr>
        <p:spPr>
          <a:xfrm>
            <a:off x="576262" y="319742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303865" y="319742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76262" y="396894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303865" y="396894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76262" y="474047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303865" y="474047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76262" y="551199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8303865" y="551199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89615" y="325134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89615" y="4052369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589615" y="485339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89615" y="563474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TRACTION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71500" y="1450872"/>
            <a:ext cx="809071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A working product already answers grounded questions today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B2AC743E-6108-4FC6-E8BE-29C437F8FD42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0FF0C-6AD8-5B17-AF72-533546DFFE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5450608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Near-term wedge: the 1B+ Muslims already online and underserved by authentic tools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571500" y="5870663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Sources: Pew Research Center (2025); </a:t>
            </a:r>
            <a:r>
              <a:rPr lang="en-US" sz="1050" b="0" i="0" u="none" strike="noStrike" cap="none" dirty="0" err="1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DinarStandard</a:t>
            </a: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, State of the Global Islamic Economy 2024/25; Standard Chartered.</a:t>
            </a:r>
            <a:endParaRPr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11210925" y="6457950"/>
            <a:ext cx="51895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06 / 15</a:t>
            </a:r>
            <a:endParaRPr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2.2B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62000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Muslims worldwide by 2030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62000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2.0B in 2025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Growing ~2x the global rate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5402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$3.36T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5402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Consumer spending by 2028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5402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$2.43T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Across core halal sectors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3185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$7.5T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3185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Finance assets by 2028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3185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$4.9T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Deep, compounding capital base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1657350"/>
            <a:ext cx="708034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Two billion Muslims anchor a $2.4 trillion Islamic economy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8C8C851A-3560-4AE7-1DE4-15406EDF6B65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CE2C7-1DD5-B408-0246-97323A677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73310"/>
            <a:ext cx="11049000" cy="40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07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210925" y="6457950"/>
            <a:ext cx="49244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07 / 15</a:t>
            </a:r>
            <a:endParaRPr dirty="0"/>
          </a:p>
        </p:txBody>
      </p:sp>
      <p:sp>
        <p:nvSpPr>
          <p:cNvPr id="223" name="Google Shape;223;p19"/>
          <p:cNvSpPr/>
          <p:nvPr/>
        </p:nvSpPr>
        <p:spPr>
          <a:xfrm flipV="1">
            <a:off x="1123950" y="2799399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71524" y="5819122"/>
            <a:ext cx="106489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Cost per query targeted to fall ~40% over 12 months as knowledge confidence rises </a:t>
            </a:r>
            <a:r>
              <a:rPr lang="en-US" sz="1200" b="0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(management target)</a:t>
            </a:r>
            <a:endParaRPr sz="1050" dirty="0"/>
          </a:p>
        </p:txBody>
      </p:sp>
      <p:sp>
        <p:nvSpPr>
          <p:cNvPr id="225" name="Google Shape;225;p19"/>
          <p:cNvSpPr txBox="1"/>
          <p:nvPr/>
        </p:nvSpPr>
        <p:spPr>
          <a:xfrm>
            <a:off x="4886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Philanthropy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In-app donations fund operations today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435578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Premium Tooling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438650" y="4306439"/>
            <a:ext cx="3314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Automated chatbots, Zakat calculator, Halal investment checklist, estate planning, corporate Zakat audits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82229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3 · YEAR 2+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B2B Licensing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3058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API access and compliance chatbots for Halal marketplaces and institutions</a:t>
            </a:r>
            <a:endParaRPr dirty="0"/>
          </a:p>
        </p:txBody>
      </p:sp>
      <p:sp>
        <p:nvSpPr>
          <p:cNvPr id="231" name="Google Shape;231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MODEL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1657350"/>
            <a:ext cx="794323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Revenue scales from donations to premium tooling to B2B licensing</a:t>
            </a:r>
            <a:endParaRPr dirty="0"/>
          </a:p>
        </p:txBody>
      </p:sp>
      <p:sp>
        <p:nvSpPr>
          <p:cNvPr id="3" name="Google Shape;223;p19">
            <a:extLst>
              <a:ext uri="{FF2B5EF4-FFF2-40B4-BE49-F238E27FC236}">
                <a16:creationId xmlns:a16="http://schemas.microsoft.com/office/drawing/2014/main" id="{3E1DF012-B28D-6717-0949-3CA0AA57947D}"/>
              </a:ext>
            </a:extLst>
          </p:cNvPr>
          <p:cNvSpPr/>
          <p:nvPr/>
        </p:nvSpPr>
        <p:spPr>
          <a:xfrm flipV="1">
            <a:off x="2426717" y="2777210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23;p19">
            <a:extLst>
              <a:ext uri="{FF2B5EF4-FFF2-40B4-BE49-F238E27FC236}">
                <a16:creationId xmlns:a16="http://schemas.microsoft.com/office/drawing/2014/main" id="{B11FA721-696A-7259-C7BE-C25431F0EE44}"/>
              </a:ext>
            </a:extLst>
          </p:cNvPr>
          <p:cNvSpPr/>
          <p:nvPr/>
        </p:nvSpPr>
        <p:spPr>
          <a:xfrm flipV="1">
            <a:off x="6293867" y="2769251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23;p19">
            <a:extLst>
              <a:ext uri="{FF2B5EF4-FFF2-40B4-BE49-F238E27FC236}">
                <a16:creationId xmlns:a16="http://schemas.microsoft.com/office/drawing/2014/main" id="{F8225845-21CC-F759-2FF5-B12DE45DA1B0}"/>
              </a:ext>
            </a:extLst>
          </p:cNvPr>
          <p:cNvSpPr/>
          <p:nvPr/>
        </p:nvSpPr>
        <p:spPr>
          <a:xfrm flipV="1">
            <a:off x="10188344" y="2766741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3901D3BF-84C6-2CA4-D99B-1F7B93DE760A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4AEAD-40A1-3653-E629-360FE5EE77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571500" y="5684489"/>
            <a:ext cx="11049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Milestone path: live product → engaged base → 1M daily users as the funded 24-month goal </a:t>
            </a:r>
            <a:r>
              <a:rPr lang="en-US" sz="1650" b="0" i="0" u="none" strike="noStrike" cap="none" dirty="0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(target, not current)</a:t>
            </a:r>
            <a:endParaRPr dirty="0"/>
          </a:p>
        </p:txBody>
      </p:sp>
      <p:sp>
        <p:nvSpPr>
          <p:cNvPr id="245" name="Google Shape;245;p20"/>
          <p:cNvSpPr txBox="1"/>
          <p:nvPr/>
        </p:nvSpPr>
        <p:spPr>
          <a:xfrm>
            <a:off x="11210925" y="6457950"/>
            <a:ext cx="50912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08 / 15</a:t>
            </a:r>
            <a:endParaRPr dirty="0"/>
          </a:p>
        </p:txBody>
      </p:sp>
      <p:sp>
        <p:nvSpPr>
          <p:cNvPr id="246" name="Google Shape;246;p20"/>
          <p:cNvSpPr txBox="1"/>
          <p:nvPr/>
        </p:nvSpPr>
        <p:spPr>
          <a:xfrm>
            <a:off x="1520904" y="3569940"/>
            <a:ext cx="15301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Community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66775" y="4065240"/>
            <a:ext cx="2838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Mosque, university, and scholar networks; shareable, source-cited answers</a:t>
            </a:r>
            <a:endParaRPr dirty="0"/>
          </a:p>
        </p:txBody>
      </p:sp>
      <p:sp>
        <p:nvSpPr>
          <p:cNvPr id="248" name="Google Shape;248;p20"/>
          <p:cNvSpPr txBox="1"/>
          <p:nvPr/>
        </p:nvSpPr>
        <p:spPr>
          <a:xfrm>
            <a:off x="5145881" y="3569940"/>
            <a:ext cx="19002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Product Depth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4676775" y="4065240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Premium tools convert engaged users; PWA install lowers friction.</a:t>
            </a:r>
            <a:endParaRPr dirty="0"/>
          </a:p>
        </p:txBody>
      </p:sp>
      <p:sp>
        <p:nvSpPr>
          <p:cNvPr id="250" name="Google Shape;250;p20"/>
          <p:cNvSpPr txBox="1"/>
          <p:nvPr/>
        </p:nvSpPr>
        <p:spPr>
          <a:xfrm>
            <a:off x="9070895" y="3569940"/>
            <a:ext cx="167020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Partnerships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486775" y="4065240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Islamic institutions and libraries drive credibility and distribution.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5962" y="280794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300" y="280794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5962" y="280794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GROWTH</a:t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71499" y="1657350"/>
            <a:ext cx="754994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Reaching one million daily users runs on three growth engines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1BE405B1-BDF9-E78D-B49C-5EF585DADD16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7877B-F542-AFDB-DCE2-6D682BC6AA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571500" y="5930354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Source: Pew Research Center (regional distribution).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1210925" y="6457951"/>
            <a:ext cx="5877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09 / 15</a:t>
            </a:r>
            <a:endParaRPr dirty="0"/>
          </a:p>
        </p:txBody>
      </p:sp>
      <p:sp>
        <p:nvSpPr>
          <p:cNvPr id="270" name="Google Shape;270;p21"/>
          <p:cNvSpPr txBox="1"/>
          <p:nvPr/>
        </p:nvSpPr>
        <p:spPr>
          <a:xfrm>
            <a:off x="1580911" y="3569940"/>
            <a:ext cx="141017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Knowledge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66775" y="4016080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From 3,00,000+ page documents toward 10,00,000 authenticated primary sources via library partnerships.</a:t>
            </a:r>
            <a:endParaRPr dirty="0"/>
          </a:p>
        </p:txBody>
      </p:sp>
      <p:sp>
        <p:nvSpPr>
          <p:cNvPr id="272" name="Google Shape;272;p21"/>
          <p:cNvSpPr txBox="1"/>
          <p:nvPr/>
        </p:nvSpPr>
        <p:spPr>
          <a:xfrm>
            <a:off x="5480923" y="3569940"/>
            <a:ext cx="123015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Language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676775" y="3986584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Extend beyond English to Arabic, Urdu, and Bahasa to local dialect— 60% of Muslims live in Asia-Pacific.</a:t>
            </a:r>
            <a:endParaRPr dirty="0"/>
          </a:p>
        </p:txBody>
      </p:sp>
      <p:sp>
        <p:nvSpPr>
          <p:cNvPr id="274" name="Google Shape;274;p21"/>
          <p:cNvSpPr txBox="1"/>
          <p:nvPr/>
        </p:nvSpPr>
        <p:spPr>
          <a:xfrm>
            <a:off x="9455943" y="3569940"/>
            <a:ext cx="90011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486775" y="406524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Consumer app first, then B2B API and compliance tooling for the Halal economy.</a:t>
            </a:r>
            <a:endParaRPr dirty="0"/>
          </a:p>
        </p:txBody>
      </p:sp>
      <p:pic>
        <p:nvPicPr>
          <p:cNvPr id="276" name="Google Shape;27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6450" y="280794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962" y="280794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7875" y="280794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EXPANSION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71500" y="1657350"/>
            <a:ext cx="771709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Expansion advances across knowledge, language, and market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A3F915DB-8379-8722-93F8-B613DD78F93A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16AC5-510E-83EF-164B-478A34E2B7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11210925" y="64579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10 / 15</a:t>
            </a:r>
            <a:endParaRPr dirty="0"/>
          </a:p>
        </p:txBody>
      </p:sp>
      <p:sp>
        <p:nvSpPr>
          <p:cNvPr id="291" name="Google Shape;291;p22"/>
          <p:cNvSpPr txBox="1"/>
          <p:nvPr/>
        </p:nvSpPr>
        <p:spPr>
          <a:xfrm>
            <a:off x="571500" y="5537826"/>
            <a:ext cx="11049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Indicative terms: $2.5M seed for ~15% equity (~$16.7M post-money), via SAFE or priced round</a:t>
            </a:r>
            <a:endParaRPr dirty="0"/>
          </a:p>
        </p:txBody>
      </p:sp>
      <p:sp>
        <p:nvSpPr>
          <p:cNvPr id="292" name="Google Shape;292;p22"/>
          <p:cNvSpPr txBox="1"/>
          <p:nvPr/>
        </p:nvSpPr>
        <p:spPr>
          <a:xfrm>
            <a:off x="680357" y="5884588"/>
            <a:ext cx="11049000" cy="57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7F3D0"/>
                </a:solidFill>
                <a:latin typeface="Lato"/>
                <a:ea typeface="Lato"/>
                <a:cs typeface="Lato"/>
                <a:sym typeface="Lato"/>
              </a:rPr>
              <a:t>Values-aligned capital only: partners uphold the Zero Comparative Religion policy and Isnad Board independence.</a:t>
            </a:r>
            <a:endParaRPr dirty="0"/>
          </a:p>
        </p:txBody>
      </p:sp>
      <p:sp>
        <p:nvSpPr>
          <p:cNvPr id="294" name="Google Shape;294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ASK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571500" y="1526718"/>
            <a:ext cx="957539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We are raising $2.5M to reach one million users and B2B revenue in 24 months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F9099A-D1B5-ED9D-58C7-99F1B4FCCA51}"/>
              </a:ext>
            </a:extLst>
          </p:cNvPr>
          <p:cNvGrpSpPr/>
          <p:nvPr/>
        </p:nvGrpSpPr>
        <p:grpSpPr>
          <a:xfrm>
            <a:off x="2451919" y="2237764"/>
            <a:ext cx="7288161" cy="3323800"/>
            <a:chOff x="2451919" y="2286417"/>
            <a:chExt cx="7288161" cy="3323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8042F3-9610-2525-49E6-CE1CAF253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51919" y="2286417"/>
              <a:ext cx="7288161" cy="3323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D55B00-B4D8-CC2C-6F44-8FBA459EA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867" t="88693"/>
            <a:stretch>
              <a:fillRect/>
            </a:stretch>
          </p:blipFill>
          <p:spPr>
            <a:xfrm>
              <a:off x="8893628" y="4885422"/>
              <a:ext cx="519880" cy="375828"/>
            </a:xfrm>
            <a:prstGeom prst="rect">
              <a:avLst/>
            </a:prstGeom>
          </p:spPr>
        </p:pic>
      </p:grp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9D994854-495B-04B5-0881-72A84653509B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116B3-CEF8-EFBF-85DE-5C449ABF6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11 / 15</a:t>
            </a:r>
            <a:endParaRPr dirty="0"/>
          </a:p>
        </p:txBody>
      </p:sp>
      <p:sp>
        <p:nvSpPr>
          <p:cNvPr id="305" name="Google Shape;305;p23"/>
          <p:cNvSpPr txBox="1"/>
          <p:nvPr/>
        </p:nvSpPr>
        <p:spPr>
          <a:xfrm>
            <a:off x="1047750" y="2800963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~24 months of runway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to hit the milestones investors underwrite.</a:t>
            </a:r>
            <a:endParaRPr dirty="0"/>
          </a:p>
        </p:txBody>
      </p:sp>
      <p:sp>
        <p:nvSpPr>
          <p:cNvPr id="306" name="Google Shape;306;p23"/>
          <p:cNvSpPr txBox="1"/>
          <p:nvPr/>
        </p:nvSpPr>
        <p:spPr>
          <a:xfrm>
            <a:off x="1047750" y="3374249"/>
            <a:ext cx="105727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Funds the jump from </a:t>
            </a:r>
            <a:r>
              <a:rPr lang="en-US" sz="1650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3,00,000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+ to 10,00,000 authenticated sources —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core defensibility.</a:t>
            </a:r>
            <a:endParaRPr dirty="0"/>
          </a:p>
        </p:txBody>
      </p:sp>
      <p:sp>
        <p:nvSpPr>
          <p:cNvPr id="307" name="Google Shape;307;p23"/>
          <p:cNvSpPr txBox="1"/>
          <p:nvPr/>
        </p:nvSpPr>
        <p:spPr>
          <a:xfrm>
            <a:off x="1047750" y="3947535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Targets a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~40% reduction in cost per query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as knowledge confidence rises.</a:t>
            </a:r>
            <a:endParaRPr dirty="0"/>
          </a:p>
        </p:txBody>
      </p:sp>
      <p:sp>
        <p:nvSpPr>
          <p:cNvPr id="308" name="Google Shape;308;p23"/>
          <p:cNvSpPr txBox="1"/>
          <p:nvPr/>
        </p:nvSpPr>
        <p:spPr>
          <a:xfrm>
            <a:off x="1047750" y="4520821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Stands up the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B2B API alpha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that opens high-margin recurring revenue in Year 2+.</a:t>
            </a:r>
            <a:endParaRPr dirty="0"/>
          </a:p>
        </p:txBody>
      </p:sp>
      <p:sp>
        <p:nvSpPr>
          <p:cNvPr id="309" name="Google Shape;309;p23"/>
          <p:cNvSpPr txBox="1"/>
          <p:nvPr/>
        </p:nvSpPr>
        <p:spPr>
          <a:xfrm>
            <a:off x="1047750" y="5094107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Right-sized: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enough to reach scale and B2B, small enough to keep the round efficient.</a:t>
            </a:r>
            <a:endParaRPr dirty="0"/>
          </a:p>
        </p:txBody>
      </p:sp>
      <p:pic>
        <p:nvPicPr>
          <p:cNvPr id="310" name="Google Shape;31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98058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5538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12715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70043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273724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JUSTIFICATION</a:t>
            </a:r>
            <a:endParaRPr dirty="0"/>
          </a:p>
        </p:txBody>
      </p:sp>
      <p:sp>
        <p:nvSpPr>
          <p:cNvPr id="316" name="Google Shape;316;p2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571500" y="1657350"/>
            <a:ext cx="789758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The raise funds a clear path from live product to recurring revenue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244DF68D-C274-43E8-6E3D-B4628200610A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BAF36-3602-B9AF-677E-E5A9FFF15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1;p23" descr="image.png">
            <a:extLst>
              <a:ext uri="{FF2B5EF4-FFF2-40B4-BE49-F238E27FC236}">
                <a16:creationId xmlns:a16="http://schemas.microsoft.com/office/drawing/2014/main" id="{6AFE60A1-FA66-5D27-BD7C-8C0A83F167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39" name="Google Shape;139;p16"/>
          <p:cNvSpPr txBox="1"/>
          <p:nvPr/>
        </p:nvSpPr>
        <p:spPr>
          <a:xfrm>
            <a:off x="529590" y="1244430"/>
            <a:ext cx="1152144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3-Year Trajectory to Sustainable Scale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23925" y="3162300"/>
            <a:ext cx="28765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4AF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1 (Minimum)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923925" y="3409950"/>
            <a:ext cx="30203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$250K - $400K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657725" y="3162300"/>
            <a:ext cx="28765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4AF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2 (Minimum)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4657725" y="3409950"/>
            <a:ext cx="30203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$1.2M - $1.8M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91525" y="3162300"/>
            <a:ext cx="28765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4AF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3 (Minimum)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8391525" y="3409950"/>
            <a:ext cx="302037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$4.5M - $6.5M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23950" y="384810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user acquisition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23950" y="4147300"/>
            <a:ext cx="2676525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Individual &amp; corporate </a:t>
            </a:r>
            <a:r>
              <a:rPr lang="en-US" sz="1125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donations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1123950" y="443865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API developer alpha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857750" y="384810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of premium tools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857750" y="4143375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B2B API contracts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857750" y="443865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reduction in query cost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591550" y="384810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 to 1M daily active users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591550" y="4143375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institution licensing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591550" y="4438650"/>
            <a:ext cx="2676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operational self-sustainability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38671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41624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44577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7725" y="38671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7725" y="41624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7725" y="44577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38671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41624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4457700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23">
            <a:extLst>
              <a:ext uri="{FF2B5EF4-FFF2-40B4-BE49-F238E27FC236}">
                <a16:creationId xmlns:a16="http://schemas.microsoft.com/office/drawing/2014/main" id="{0ADE1DFE-978A-A39C-DC9B-E8B460B28E47}"/>
              </a:ext>
            </a:extLst>
          </p:cNvPr>
          <p:cNvSpPr txBox="1"/>
          <p:nvPr/>
        </p:nvSpPr>
        <p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REVENUE PROJECTIONS</a:t>
            </a:r>
          </a:p>
        </p:txBody>
      </p:sp>
      <p:sp>
        <p:nvSpPr>
          <p:cNvPr id="14" name="Google Shape;316;p23">
            <a:extLst>
              <a:ext uri="{FF2B5EF4-FFF2-40B4-BE49-F238E27FC236}">
                <a16:creationId xmlns:a16="http://schemas.microsoft.com/office/drawing/2014/main" id="{74BD54F7-F09F-5B4A-F9BB-EEF3F5314102}"/>
              </a:ext>
            </a:extLst>
          </p:cNvPr>
          <p:cNvSpPr/>
          <p:nvPr/>
        </p:nvSpPr>
        <p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302;p23" descr="image.png">
            <a:extLst>
              <a:ext uri="{FF2B5EF4-FFF2-40B4-BE49-F238E27FC236}">
                <a16:creationId xmlns:a16="http://schemas.microsoft.com/office/drawing/2014/main" id="{4CCFED5F-CFF8-764A-B39D-87CF00BC7E8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4;p23">
            <a:extLst>
              <a:ext uri="{FF2B5EF4-FFF2-40B4-BE49-F238E27FC236}">
                <a16:creationId xmlns:a16="http://schemas.microsoft.com/office/drawing/2014/main" id="{741392B8-4651-16C0-2C72-95AADD302DA2}"/>
              </a:ext>
            </a:extLst>
          </p:cNvPr>
          <p:cNvSpPr txBox="1"/>
          <p:nvPr/>
        </p:nvSpPr>
        <p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12 / 15</a:t>
            </a:r>
            <a:endParaRPr dirty="0"/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59761486-2E8B-6438-ADEC-BBCDD07C9619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D7C8C7-7B08-D934-411E-98D1D7A3AC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301;p23" descr="image.png">
            <a:extLst>
              <a:ext uri="{FF2B5EF4-FFF2-40B4-BE49-F238E27FC236}">
                <a16:creationId xmlns:a16="http://schemas.microsoft.com/office/drawing/2014/main" id="{4618EA80-05CF-D196-2504-58692687D8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2" name="Google Shape;172;p17"/>
          <p:cNvSpPr txBox="1"/>
          <p:nvPr/>
        </p:nvSpPr>
        <p:spPr>
          <a:xfrm>
            <a:off x="529590" y="1263567"/>
            <a:ext cx="1152144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Risk-Adjusted Returns &amp; Strategic Value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3048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923925" y="3695700"/>
            <a:ext cx="30203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Equity Appreciation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23925" y="4048125"/>
            <a:ext cx="2876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Targeting 5x to 8x valuation multiple expansion over 5 years driven by B2B SaaS recurring revenue.</a:t>
            </a:r>
            <a:endParaRPr dirty="0"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7725" y="3048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4657725" y="3695700"/>
            <a:ext cx="30203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Dividend / Profit Share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4657725" y="4048125"/>
            <a:ext cx="2876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Ethical hybrid model allowing cash-flow distributions once sustainable surplus is achieved in Year 3+.</a:t>
            </a:r>
            <a:endParaRPr dirty="0"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91525" y="3048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8391525" y="3695700"/>
            <a:ext cx="30203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Legacy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391525" y="4048125"/>
            <a:ext cx="2876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Unprecedented strategic foothold in safeguarding verified Islamic knowledge infrastructure globally.</a:t>
            </a:r>
            <a:endParaRPr dirty="0"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2987" y="31813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6787" y="31813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24875" y="31813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15;p23">
            <a:extLst>
              <a:ext uri="{FF2B5EF4-FFF2-40B4-BE49-F238E27FC236}">
                <a16:creationId xmlns:a16="http://schemas.microsoft.com/office/drawing/2014/main" id="{3B6209A2-9A73-E93B-97C8-F25B537ACCA6}"/>
              </a:ext>
            </a:extLst>
          </p:cNvPr>
          <p:cNvSpPr txBox="1"/>
          <p:nvPr/>
        </p:nvSpPr>
        <p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INVESTOR ROI OUTLOOK</a:t>
            </a:r>
          </a:p>
        </p:txBody>
      </p:sp>
      <p:sp>
        <p:nvSpPr>
          <p:cNvPr id="5" name="Google Shape;316;p23">
            <a:extLst>
              <a:ext uri="{FF2B5EF4-FFF2-40B4-BE49-F238E27FC236}">
                <a16:creationId xmlns:a16="http://schemas.microsoft.com/office/drawing/2014/main" id="{9502F3D3-6DBD-F175-7B95-B6E3EA07A78F}"/>
              </a:ext>
            </a:extLst>
          </p:cNvPr>
          <p:cNvSpPr/>
          <p:nvPr/>
        </p:nvSpPr>
        <p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302;p23" descr="image.png">
            <a:extLst>
              <a:ext uri="{FF2B5EF4-FFF2-40B4-BE49-F238E27FC236}">
                <a16:creationId xmlns:a16="http://schemas.microsoft.com/office/drawing/2014/main" id="{4F35EA43-7F37-4262-3DAF-F3DD25CB1F9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04;p23">
            <a:extLst>
              <a:ext uri="{FF2B5EF4-FFF2-40B4-BE49-F238E27FC236}">
                <a16:creationId xmlns:a16="http://schemas.microsoft.com/office/drawing/2014/main" id="{CB5F25EB-1971-BEE3-A1EB-D1E7108F7054}"/>
              </a:ext>
            </a:extLst>
          </p:cNvPr>
          <p:cNvSpPr txBox="1"/>
          <p:nvPr/>
        </p:nvSpPr>
        <p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13 / 15</a:t>
            </a:r>
            <a:endParaRPr dirty="0"/>
          </a:p>
        </p:txBody>
      </p:sp>
      <p:sp>
        <p:nvSpPr>
          <p:cNvPr id="6" name="Google Shape;90;p13">
            <a:extLst>
              <a:ext uri="{FF2B5EF4-FFF2-40B4-BE49-F238E27FC236}">
                <a16:creationId xmlns:a16="http://schemas.microsoft.com/office/drawing/2014/main" id="{A3E0DF6D-D278-D0FC-BF8E-A651CE7D54C8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6C0D91-0878-A73D-3D33-3693B892DD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95275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CONFIDENTIAL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95275" y="1495425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Investing in the integrity of Islamic knowledge</a:t>
            </a:r>
            <a:endParaRPr sz="1100" dirty="0"/>
          </a:p>
        </p:txBody>
      </p:sp>
      <p:sp>
        <p:nvSpPr>
          <p:cNvPr id="327" name="Google Shape;327;p24"/>
          <p:cNvSpPr txBox="1"/>
          <p:nvPr/>
        </p:nvSpPr>
        <p:spPr>
          <a:xfrm>
            <a:off x="571500" y="2122289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 dirty="0">
                <a:solidFill>
                  <a:srgbClr val="D1FAE5"/>
                </a:solidFill>
                <a:latin typeface="Lato Light"/>
                <a:ea typeface="Lato Light"/>
                <a:cs typeface="Lato Light"/>
                <a:sym typeface="Lato Light"/>
              </a:rPr>
              <a:t>The defensible position in authenticated Islamic AI</a:t>
            </a:r>
            <a:endParaRPr dirty="0"/>
          </a:p>
        </p:txBody>
      </p:sp>
      <p:sp>
        <p:nvSpPr>
          <p:cNvPr id="329" name="Google Shape;329;p24"/>
          <p:cNvSpPr txBox="1"/>
          <p:nvPr/>
        </p:nvSpPr>
        <p:spPr>
          <a:xfrm>
            <a:off x="11210925" y="6392638"/>
            <a:ext cx="6858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14 / 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15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CBA162-0395-620D-AB3A-5B93BFEC833E}"/>
              </a:ext>
            </a:extLst>
          </p:cNvPr>
          <p:cNvGrpSpPr/>
          <p:nvPr/>
        </p:nvGrpSpPr>
        <p:grpSpPr>
          <a:xfrm>
            <a:off x="4186237" y="2829710"/>
            <a:ext cx="3819525" cy="3084016"/>
            <a:chOff x="4186237" y="4255740"/>
            <a:chExt cx="3819525" cy="3084016"/>
          </a:xfrm>
        </p:grpSpPr>
        <p:pic>
          <p:nvPicPr>
            <p:cNvPr id="323" name="Google Shape;323;p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86237" y="4255740"/>
              <a:ext cx="3819525" cy="3084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4"/>
            <p:cNvSpPr txBox="1"/>
            <p:nvPr/>
          </p:nvSpPr>
          <p:spPr>
            <a:xfrm>
              <a:off x="4576762" y="4646265"/>
              <a:ext cx="3190398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 dirty="0">
                  <a:solidFill>
                    <a:srgbClr val="FBBF24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Shaikh Javed Mahmood</a:t>
              </a:r>
              <a:endParaRPr dirty="0"/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4576762" y="507489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6EE7B7"/>
                  </a:solidFill>
                  <a:latin typeface="Lato"/>
                  <a:ea typeface="Lato"/>
                  <a:cs typeface="Lato"/>
                  <a:sym typeface="Lato"/>
                </a:rPr>
                <a:t>FOUNDER &amp; CEO</a:t>
              </a:r>
              <a:endParaRPr dirty="0"/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4576762" y="557019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Iqra.live</a:t>
              </a:r>
              <a:endParaRPr/>
            </a:p>
          </p:txBody>
        </p:sp>
        <p:sp>
          <p:nvSpPr>
            <p:cNvPr id="333" name="Google Shape;333;p24"/>
            <p:cNvSpPr txBox="1"/>
            <p:nvPr/>
          </p:nvSpPr>
          <p:spPr>
            <a:xfrm>
              <a:off x="4576762" y="606162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contact@iqra.live</a:t>
              </a:r>
              <a:endParaRPr dirty="0"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4576762" y="6553051"/>
              <a:ext cx="3038475" cy="30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+880 1771144221</a:t>
              </a:r>
              <a:endParaRPr dirty="0"/>
            </a:p>
          </p:txBody>
        </p:sp>
      </p:grpSp>
      <p:pic>
        <p:nvPicPr>
          <p:cNvPr id="3" name="Picture 2" descr="Website Icon, Transparent Website.PNG Images &amp; Vector - FreeIconsPNG">
            <a:extLst>
              <a:ext uri="{FF2B5EF4-FFF2-40B4-BE49-F238E27FC236}">
                <a16:creationId xmlns:a16="http://schemas.microsoft.com/office/drawing/2014/main" id="{1CB354DB-A68B-3254-3D82-865937C21BB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479" y="4345483"/>
            <a:ext cx="228543" cy="228543"/>
          </a:xfrm>
          <a:prstGeom prst="rect">
            <a:avLst/>
          </a:prstGeom>
        </p:spPr>
      </p:pic>
      <p:pic>
        <p:nvPicPr>
          <p:cNvPr id="5" name="Picture 4" descr="Email PNG Download, Email Logo, Icon, Email Symbol, @ PNG - Free ...">
            <a:extLst>
              <a:ext uri="{FF2B5EF4-FFF2-40B4-BE49-F238E27FC236}">
                <a16:creationId xmlns:a16="http://schemas.microsoft.com/office/drawing/2014/main" id="{2FB6B141-1D5E-91CB-1D66-470C68992C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28784" y="4784995"/>
            <a:ext cx="274320" cy="274320"/>
          </a:xfrm>
          <a:prstGeom prst="rect">
            <a:avLst/>
          </a:prstGeom>
        </p:spPr>
      </p:pic>
      <p:pic>
        <p:nvPicPr>
          <p:cNvPr id="6" name="Picture 5" descr="Call Icon, Contact Mark, Message Alert, Dialer Graphic, Connection ...">
            <a:extLst>
              <a:ext uri="{FF2B5EF4-FFF2-40B4-BE49-F238E27FC236}">
                <a16:creationId xmlns:a16="http://schemas.microsoft.com/office/drawing/2014/main" id="{DD0D100D-DCCD-2758-34AD-05B745D6F5B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49590" y="5267173"/>
            <a:ext cx="274320" cy="274320"/>
          </a:xfrm>
          <a:prstGeom prst="rect">
            <a:avLst/>
          </a:prstGeom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DDBBA7B1-41F8-A15C-D8A3-19C2FE3BC83D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92F32D-7527-3BAA-DB01-59B7C560E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1173</Words>
  <Application>Microsoft Office PowerPoint</Application>
  <PresentationFormat>Widescreen</PresentationFormat>
  <Paragraphs>153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Fraunces</vt:lpstr>
      <vt:lpstr>Plus Jakarta Sans</vt:lpstr>
      <vt:lpstr>Playfair Display</vt:lpstr>
      <vt:lpstr>Calibri</vt:lpstr>
      <vt:lpstr>Plus Jakarta Sans ExtraBold</vt:lpstr>
      <vt:lpstr>Playfair Display SemiBold</vt:lpstr>
      <vt:lpstr>Lato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Reels Limited</cp:lastModifiedBy>
  <cp:revision>9</cp:revision>
  <dcterms:modified xsi:type="dcterms:W3CDTF">2026-09-01T06:03:00Z</dcterms:modified>
</cp:coreProperties>
</file>