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67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502020204030203" pitchFamily="34" charset="0"/>
      <p:regular r:id="rId22"/>
      <p:bold r:id="rId23"/>
      <p:italic r:id="rId24"/>
      <p:bold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  <p:embeddedFont>
      <p:font typeface="Playfair Display SemiBold" panose="020B0604020202020204" charset="0"/>
      <p:regular r:id="rId30"/>
      <p:bold r:id="rId31"/>
      <p:italic r:id="rId32"/>
      <p:boldItalic r:id="rId33"/>
    </p:embeddedFont>
    <p:embeddedFont>
      <p:font typeface="Plus Jakarta Sans" panose="020B0604020202020204" charset="0"/>
      <p:regular r:id="rId34"/>
      <p:bold r:id="rId35"/>
      <p:italic r:id="rId36"/>
      <p:boldItalic r:id="rId37"/>
    </p:embeddedFont>
    <p:embeddedFont>
      <p:font typeface="Plus Jakarta Sans ExtraBold" panose="020B0604020202020204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4F1D28-9251-4464-B071-091EB6F306C0}">
  <a:tblStyle styleId="{184F1D28-9251-4464-B071-091EB6F306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283E460-8189-3C39-31C6-486F1FE8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03A59BB-6F09-66F2-CE58-27F6C5EC5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5A8B307-AD87-B4E6-C8FE-E3FE24794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6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3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Bismillahirrahmanirrahim Hd">
            <a:extLst>
              <a:ext uri="{FF2B5EF4-FFF2-40B4-BE49-F238E27FC236}">
                <a16:creationId xmlns:a16="http://schemas.microsoft.com/office/drawing/2014/main" id="{F349746A-48E1-4527-9277-FD5BB6B6B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6015" y="1934007"/>
            <a:ext cx="5979970" cy="2989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5BBD290-BFD9-CB55-73D8-C35B4AD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5AAA3085-7D50-C5CD-6542-8B1E1EA618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68992DD3-840E-1067-21FF-11B5EA36B0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5B4CFC27-C6A7-6A1E-2FB2-1C59F4623808}"/>
              </a:ext>
            </a:extLst>
          </p:cNvPr>
          <p:cNvSpPr txBox="1"/>
          <p:nvPr/>
        </p:nvSpPr>
        <p:spPr>
          <a:xfrm>
            <a:off x="3505676" y="1814544"/>
            <a:ext cx="51806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INVESTMENT PROPOSAL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64D6B09-AF89-BA51-D519-09D80F077D21}"/>
              </a:ext>
            </a:extLst>
          </p:cNvPr>
          <p:cNvSpPr txBox="1"/>
          <p:nvPr/>
        </p:nvSpPr>
        <p:spPr>
          <a:xfrm>
            <a:off x="1790085" y="4964060"/>
            <a:ext cx="85725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 dirty="0">
                <a:solidFill>
                  <a:srgbClr val="ECFDF5"/>
                </a:solidFill>
                <a:latin typeface="Lato Light"/>
                <a:ea typeface="Lato Light"/>
                <a:cs typeface="Lato Light"/>
                <a:sym typeface="Lato Light"/>
              </a:rPr>
              <a:t>Authenticated Islamic knowledge for the age of generative AI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EB12A626-D171-9B5B-BD23-515E953CC2BF}"/>
              </a:ext>
            </a:extLst>
          </p:cNvPr>
          <p:cNvSpPr txBox="1"/>
          <p:nvPr/>
        </p:nvSpPr>
        <p:spPr>
          <a:xfrm>
            <a:off x="4266586" y="551264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EE7B7"/>
                </a:solidFill>
                <a:latin typeface="Lato"/>
                <a:ea typeface="Lato"/>
                <a:cs typeface="Lato"/>
                <a:sym typeface="Lato"/>
              </a:rPr>
              <a:t>SEED ROUND · 2026 · CONFIDENTIAL</a:t>
            </a:r>
            <a:endParaRPr dirty="0"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526DC5D9-61C1-ED75-5D0E-4B288B58377B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2515B901-6996-2254-2C22-38C53573340B}"/>
              </a:ext>
            </a:extLst>
          </p:cNvPr>
          <p:cNvSpPr txBox="1"/>
          <p:nvPr/>
        </p:nvSpPr>
        <p:spPr>
          <a:xfrm>
            <a:off x="11210925" y="6457950"/>
            <a:ext cx="62711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01 / 15</a:t>
            </a:r>
            <a:endParaRPr dirty="0"/>
          </a:p>
        </p:txBody>
      </p:sp>
      <p:pic>
        <p:nvPicPr>
          <p:cNvPr id="92" name="Google Shape;92;p13" descr="image.png">
            <a:extLst>
              <a:ext uri="{FF2B5EF4-FFF2-40B4-BE49-F238E27FC236}">
                <a16:creationId xmlns:a16="http://schemas.microsoft.com/office/drawing/2014/main" id="{F1B00B15-47C3-C7C6-6A2B-6D9D8FD095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4412" y="4473189"/>
            <a:ext cx="10953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>
            <a:extLst>
              <a:ext uri="{FF2B5EF4-FFF2-40B4-BE49-F238E27FC236}">
                <a16:creationId xmlns:a16="http://schemas.microsoft.com/office/drawing/2014/main" id="{5EFE0258-C7D3-FD37-A8EA-A5B78645C00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5537" y="4473189"/>
            <a:ext cx="116205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25C0ECF-D067-A0D1-8A3E-2D5D1E2EFEAB}"/>
              </a:ext>
            </a:extLst>
          </p:cNvPr>
          <p:cNvGrpSpPr/>
          <p:nvPr/>
        </p:nvGrpSpPr>
        <p:grpSpPr>
          <a:xfrm>
            <a:off x="4270592" y="262865"/>
            <a:ext cx="3564863" cy="1574771"/>
            <a:chOff x="4270592" y="262865"/>
            <a:chExt cx="3564863" cy="1574771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B40E2617-DB25-78A6-E350-8FE9CBA54AF2}"/>
                </a:ext>
              </a:extLst>
            </p:cNvPr>
            <p:cNvSpPr/>
            <p:nvPr/>
          </p:nvSpPr>
          <p:spPr>
            <a:xfrm>
              <a:off x="4270592" y="1332812"/>
              <a:ext cx="3564863" cy="5048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kern="0" spc="864" dirty="0">
                  <a:solidFill>
                    <a:srgbClr val="F4EFE3"/>
                  </a:solidFill>
                  <a:latin typeface="Fraunces" pitchFamily="34" charset="0"/>
                  <a:ea typeface="Fraunces" pitchFamily="34" charset="-122"/>
                  <a:cs typeface="Fraunces" pitchFamily="34" charset="-120"/>
                </a:rPr>
                <a:t>IQRA</a:t>
              </a:r>
              <a:endParaRPr lang="en-US" sz="280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77CF55-423E-DD72-DD2F-126502BCE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36423"/>
            <a:stretch>
              <a:fillRect/>
            </a:stretch>
          </p:blipFill>
          <p:spPr>
            <a:xfrm>
              <a:off x="5085201" y="262865"/>
              <a:ext cx="1905142" cy="122497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45B470-FC2A-5385-E5BD-F22549F8D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933124" y="2319368"/>
            <a:ext cx="2209295" cy="2209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3B2C14-AFAE-9D40-ED98-DC7DBE4812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85429"/>
      </p:ext>
    </p:extLst>
  </p:cSld>
  <p:clrMapOvr>
    <a:masterClrMapping/>
  </p:clrMapOvr>
</p:sld>
</file>

<file path=ppt/slides/slide3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97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98" name="Google Shape;98;p14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99" name="Google Shape;99;p14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01" name="Google Shape;101;p14"/>
          <ns0:cNvSpPr txBox="1"/>
          <ns0:nvPr/>
        </ns0:nvSpPr>
        <ns0:spPr>
          <a:xfrm>
            <a:off x="11210925" y="6457950"/>
            <a:ext cx="568120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02 / 1</a:t>
            </a:r>
            <a:r>
              <a:rPr lang="en-US" sz="1050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5</a:t>
            </a:r>
            <a:endParaRPr dirty="0"/>
          </a:p>
        </ns0:txBody>
      </ns0:sp>
      <ns0:grpSp>
        <ns0:nvGrpSpPr>
          <ns0:cNvPr id="2" name="Group 1">
            <a:extLst>
              <a:ext uri="{FF2B5EF4-FFF2-40B4-BE49-F238E27FC236}">
                <ns3:creationId id="{2A76DE7D-606E-7429-D2AB-9ADDC01EDF05}"/>
              </a:ext>
            </a:extLst>
          </ns0:cNvPr>
          <ns0:cNvGrpSpPr/>
          <ns0:nvPr/>
        </ns0:nvGrpSpPr>
        <ns0:grpSpPr>
          <a:xfrm>
            <a:off x="571500" y="2511399"/>
            <a:ext cx="11049000" cy="2778919"/>
            <a:chOff x="571500" y="2894855"/>
            <a:chExt cx="11049000" cy="2778919"/>
          </a:xfrm>
        </ns0:grpSpPr>
        <ns0:sp>
          <ns0:nvSpPr>
            <ns0:cNvPr id="102" name="Google Shape;102;p14"/>
            <ns0:cNvSpPr txBox="1"/>
            <ns0:nvPr/>
          </ns0:nvSpPr>
          <ns0:spPr>
            <a:xfrm>
              <a:off x="1238250" y="2942480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General AI answers faith questions probabilistically, producing unverifiable rulings</a:t>
              </a:r>
              <a:endParaRPr dirty="0"/>
            </a:p>
          </ns0:txBody>
        </ns0:sp>
        <ns0:sp>
          <ns0:nvSpPr>
            <ns0:cNvPr id="103" name="Google Shape;103;p14"/>
            <ns0:cNvSpPr txBox="1"/>
            <ns0:nvPr/>
          </ns0:nvSpPr>
          <ns0:spPr>
            <a:xfrm>
              <a:off x="1238250" y="3515766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latin typeface="Lato"/>
                  <a:ea typeface="Lato"/>
                  <a:cs typeface="Lato"/>
                  <a:sym typeface="Lato"/>
                  <a:solidFill>
                    <a:srgbClr val="FF0000"/>
                  </a:solidFill>
                </a:rPr>
                <a:t>IQRA is a live assistant that grounds answers in a curated Islamic source library</a:t>
              </a:r>
              <a:endParaRPr dirty="0"/>
            </a:p>
          </ns0:txBody>
        </ns0:sp>
        <ns0:sp>
          <ns0:nvSpPr>
            <ns0:cNvPr id="104" name="Google Shape;104;p14"/>
            <ns0:cNvSpPr txBox="1"/>
            <ns0:nvPr/>
          </ns0:nvSpPr>
          <ns0:spPr>
            <a:xfrm>
              <a:off x="1238250" y="4089052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market: 2 billion Muslims and a $2.4 trillion Islamic economy</a:t>
              </a:r>
              <a:endParaRPr dirty="0"/>
            </a:p>
          </ns0:txBody>
        </ns0:sp>
        <ns0:sp>
          <ns0:nvSpPr>
            <ns0:cNvPr id="105" name="Google Shape;105;p14"/>
            <ns0:cNvSpPr txBox="1"/>
            <ns0:nvPr/>
          </ns0:nvSpPr>
          <ns0:spPr>
            <a:xfrm>
              <a:off x="1238250" y="4662338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model scales from donations to premium tooling to B2B licensing</a:t>
              </a:r>
              <a:endParaRPr dirty="0"/>
            </a:p>
          </ns0:txBody>
        </ns0:sp>
        <ns0:sp>
          <ns0:nvSpPr>
            <ns0:cNvPr id="106" name="Google Shape;106;p14"/>
            <ns0:cNvSpPr txBox="1"/>
            <ns0:nvPr/>
          </ns0:nvSpPr>
          <ns0:spPr>
            <a:xfrm>
              <a:off x="1238250" y="5235624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latin typeface="Lato"/>
                  <a:ea typeface="Lato"/>
                  <a:cs typeface="Lato"/>
                  <a:sym typeface="Lato"/>
                  <a:solidFill>
                    <a:srgbClr val="FF0000"/>
                  </a:solidFill>
                </a:rPr>
                <a:t>The ask: $2.5M to target 1M daily active users and B2B revenue within 24 months</a:t>
              </a:r>
              <a:endParaRPr dirty="0"/>
            </a:p>
          </ns0:txBody>
        </ns0:sp>
        <ns0:sp>
          <ns0:nvSpPr>
            <ns0:cNvPr id="107" name="Google Shape;107;p14"/>
            <ns0:cNvSpPr txBox="1"/>
            <ns0:nvPr/>
          </ns0:nvSpPr>
          <ns0:spPr>
            <a:xfrm>
              <a:off x="571500" y="2894855"/>
              <a:ext cx="314325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01</a:t>
              </a:r>
              <a:endParaRPr dirty="0"/>
            </a:p>
          </ns0:txBody>
        </ns0:sp>
        <ns0:sp>
          <ns0:nvSpPr>
            <ns0:cNvPr id="108" name="Google Shape;108;p14"/>
            <ns0:cNvSpPr txBox="1"/>
            <ns0:nvPr/>
          </ns0:nvSpPr>
          <ns0:spPr>
            <a:xfrm>
              <a:off x="571500" y="3468141"/>
              <a:ext cx="361950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02</a:t>
              </a:r>
              <a:endParaRPr/>
            </a:p>
          </ns0:txBody>
        </ns0:sp>
        <ns0:sp>
          <ns0:nvSpPr>
            <ns0:cNvPr id="109" name="Google Shape;109;p14"/>
            <ns0:cNvSpPr txBox="1"/>
            <ns0:nvPr/>
          </ns0:nvSpPr>
          <ns0:spPr>
            <a:xfrm>
              <a:off x="571500" y="4041427"/>
              <a:ext cx="352425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03</a:t>
              </a:r>
              <a:endParaRPr/>
            </a:p>
          </ns0:txBody>
        </ns0:sp>
        <ns0:sp>
          <ns0:nvSpPr>
            <ns0:cNvPr id="110" name="Google Shape;110;p14"/>
            <ns0:cNvSpPr txBox="1"/>
            <ns0:nvPr/>
          </ns0:nvSpPr>
          <ns0:spPr>
            <a:xfrm>
              <a:off x="571500" y="4614713"/>
              <a:ext cx="361950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04</a:t>
              </a:r>
              <a:endParaRPr/>
            </a:p>
          </ns0:txBody>
        </ns0:sp>
        <ns0:sp>
          <ns0:nvSpPr>
            <ns0:cNvPr id="111" name="Google Shape;111;p14"/>
            <ns0:cNvSpPr txBox="1"/>
            <ns0:nvPr/>
          </ns0:nvSpPr>
          <ns0:spPr>
            <a:xfrm>
              <a:off x="571500" y="5187999"/>
              <a:ext cx="342900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05</a:t>
              </a:r>
              <a:endParaRPr/>
            </a:p>
          </ns0:txBody>
        </ns0:sp>
      </ns0:grpSp>
      <ns0:sp>
        <ns0:nvSpPr>
          <ns0:cNvPr id="112" name="Google Shape;112;p14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EXECUTIVE SUMMARY</a:t>
            </a:r>
            <a:endParaRPr/>
          </a:p>
        </ns0:txBody>
      </ns0:sp>
      <ns0:sp>
        <ns0:nvSpPr>
          <ns0:cNvPr id="113" name="Google Shape;113;p14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14" name="Google Shape;114;p14"/>
          <ns0:cNvSpPr txBox="1"/>
          <ns0:nvPr/>
        </ns0:nvSpPr>
        <ns0:spPr>
          <a:xfrm>
            <a:off x="571500" y="1657350"/>
            <a:ext cx="9014952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IQRA is a live, source-grounded Islamic assistant raising $2.5M to reach scale</a:t>
            </a:r>
            <a:endParaRPr dirty="0"/>
          </a:p>
        </ns0:txBody>
      </ns0:sp>
      <ns0:sp>
        <ns0:nvSpPr>
          <ns0:cNvPr id="4" name="Google Shape;90;p13">
            <a:extLst>
              <a:ext uri="{FF2B5EF4-FFF2-40B4-BE49-F238E27FC236}">
                <ns3:creationId id="{D3A86AA3-93DA-8551-D581-EF169816B474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48A72711-E0D2-3673-6535-393CEE67BAE3}"/>
              </a:ext>
            </a:extLst>
          </ns0:cNvPr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118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119" name="Google Shape;119;p15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20" name="Google Shape;120;p15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48768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21" name="Google Shape;121;p15"/>
          <ns0:cNvSpPr txBox="1"/>
          <ns0:nvPr/>
        </ns0:nvSpPr>
        <ns0:spPr>
          <a:xfrm>
            <a:off x="571500" y="571500"/>
            <a:ext cx="52006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PROBLEM</a:t>
            </a:r>
            <a:endParaRPr/>
          </a:p>
        </ns0:txBody>
      </ns0:sp>
      <ns0:sp>
        <ns0:nvSpPr>
          <ns0:cNvPr id="122" name="Google Shape;122;p15"/>
          <ns0:cNvSpPr/>
          <ns0:nvPr/>
        </ns0:nvSpPr>
        <ns0:spPr>
          <a:xfrm>
            <a:off x="571500" y="1257300"/>
            <a:ext cx="4953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23" name="Google Shape;123;p15"/>
          <ns0:cNvSpPr txBox="1"/>
          <ns0:nvPr/>
        </ns0:nvSpPr>
        <ns0:spPr>
          <a:xfrm>
            <a:off x="571500" y="1500034"/>
            <a:ext cx="6065274" cy="1080296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Generative AI is manufacturing religious rulings it cannot authenticate</a:t>
            </a:r>
            <a:endParaRPr dirty="0"/>
          </a:p>
        </ns0:txBody>
      </ns0:sp>
      <ns0:sp>
        <ns0:nvSpPr>
          <ns0:cNvPr id="124" name="Google Shape;124;p15"/>
          <ns0:cNvSpPr txBox="1"/>
          <ns0:nvPr/>
        </ns0:nvSpPr>
        <ns0:spPr>
          <a:xfrm>
            <a:off x="571500" y="7439769"/>
            <a:ext cx="4953000" cy="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Market context source: Pew Research Center (global Muslim population).</a:t>
            </a:r>
            <a:endParaRPr/>
          </a:p>
        </ns0:txBody>
      </ns0:sp>
      <ns0:sp>
        <ns0:nvSpPr>
          <ns0:cNvPr id="127" name="Google Shape;127;p15"/>
          <ns0:cNvSpPr txBox="1"/>
          <ns0:nvPr/>
        </ns0:nvSpPr>
        <ns0:spPr>
          <a:xfrm>
            <a:off x="11208004" y="6407839"/>
            <a:ext cx="114576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03 / 15</a:t>
            </a:r>
            <a:endParaRPr dirty="0"/>
          </a:p>
        </ns0:txBody>
      </ns0:sp>
      <ns0:sp>
        <ns0:nvSpPr>
          <ns0:cNvPr id="128" name="Google Shape;128;p15"/>
          <ns0:cNvSpPr txBox="1"/>
          <ns0:nvPr/>
        </ns0:nvSpPr>
        <ns0:spPr>
          <a:xfrm>
            <a:off x="1047749" y="2890714"/>
            <a:ext cx="5461205" cy="369332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General LLMs predict plausible text, not verified rulings</a:t>
            </a:r>
            <a:endParaRPr sz="1500" dirty="0"/>
          </a:p>
        </ns0:txBody>
      </ns0:sp>
      <ns0:sp>
        <ns0:nvSpPr>
          <ns0:cNvPr id="129" name="Google Shape;129;p15"/>
          <ns0:cNvSpPr txBox="1"/>
          <ns0:nvPr/>
        </ns0:nvSpPr>
        <ns0:spPr>
          <a:xfrm>
            <a:off x="1047749" y="3612355"/>
            <a:ext cx="5461205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result is doctrinal drift: fabricated citations, blended traditions, confident errors at scale</a:t>
            </a:r>
            <a:endParaRPr sz="1500" dirty="0"/>
          </a:p>
        </ns0:txBody>
      </ns0:sp>
      <ns0:sp>
        <ns0:nvSpPr>
          <ns0:cNvPr id="130" name="Google Shape;130;p15"/>
          <ns0:cNvSpPr txBox="1"/>
          <ns0:nvPr/>
        </ns0:nvSpPr>
        <ns0:spPr>
          <a:xfrm>
            <a:off x="1047749" y="4550290"/>
            <a:ext cx="5461205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Muslims increasingly seek guidance online; a wrong answer can carry serious spiritual and trust consequences</a:t>
            </a:r>
            <a:endParaRPr sz="1500" dirty="0"/>
          </a:p>
        </ns0:txBody>
      </ns0:sp>
      <ns0:sp>
        <ns0:nvSpPr>
          <ns0:cNvPr id="131" name="Google Shape;131;p15"/>
          <ns0:cNvSpPr txBox="1"/>
          <ns0:nvPr/>
        </ns0:nvSpPr>
        <ns0:spPr>
          <a:xfrm>
            <a:off x="1047749" y="5567760"/>
            <a:ext cx="5461205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Mainstream assistants are not designed around a curated, scholar-governed Islamic source library</a:t>
            </a:r>
            <a:endParaRPr sz="1500" dirty="0"/>
          </a:p>
        </ns0:txBody>
      </ns0:sp>
      <ns0:pic>
        <ns0:nvPicPr>
          <ns0:cNvPr id="132" name="Google Shape;132;p15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2958310"/>
            <a:ext cx="22860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3" name="Google Shape;133;p15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666750" y="3768437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4" name="Google Shape;134;p15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666750" y="4676884"/>
            <a:ext cx="28575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5" name="Google Shape;135;p15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666750" y="5694349"/>
            <a:ext cx="22860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" name="Picture 2" descr="Leading Trainers of Generative AI for Leadership Course| Expert ...">
            <a:extLst>
              <a:ext uri="{FF2B5EF4-FFF2-40B4-BE49-F238E27FC236}">
                <ns3:creationId id="{898E55DC-67D5-C654-F507-A84FDC508663}"/>
              </a:ext>
            </a:extLst>
          </ns0:cNvPr>
          <ns0:cNvPicPr>
            <a:picLocks noChangeAspect="1"/>
          </ns0:cNvPicPr>
          <ns0:nvPr/>
        </ns0:nvPicPr>
        <ns0:blipFill>
          <a:blip ns2:embed="rId9">
            <a:biLevel thresh="25000"/>
          </a:blip>
          <a:stretch>
            <a:fillRect/>
          </a:stretch>
        </ns0:blipFill>
        <ns0:spPr>
          <a:xfrm>
            <a:off x="7152572" y="1231095"/>
            <a:ext cx="4395809" cy="4395809"/>
          </a:xfrm>
          <a:prstGeom prst="rect">
            <a:avLst/>
          </a:prstGeom>
        </ns0:spPr>
      </ns0:pic>
      <ns0:sp>
        <ns0:nvSpPr>
          <ns0:cNvPr id="4" name="Google Shape;90;p13">
            <a:extLst>
              <a:ext uri="{FF2B5EF4-FFF2-40B4-BE49-F238E27FC236}">
                <ns3:creationId id="{EE24458A-7FDF-99F6-7237-76AB5CCD89F6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1440B849-1F6C-502D-2064-9E5157199372}"/>
              </a:ext>
            </a:extLst>
          </ns0:cNvPr>
          <ns0:cNvPicPr>
            <a:picLocks noChangeAspect="1"/>
          </ns0:cNvPicPr>
          <ns0:nvPr/>
        </ns0:nvPicPr>
        <ns0:blipFill>
          <a:blip ns2:embed="rId10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139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140" name="Google Shape;140;p16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42" name="Google Shape;142;p16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44" name="Google Shape;144;p16"/>
          <ns0:cNvSpPr txBox="1"/>
          <ns0:nvPr/>
        </ns0:nvSpPr>
        <ns0:spPr>
          <a:xfrm>
            <a:off x="11210925" y="6457950"/>
            <a:ext cx="76476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04 / 15</a:t>
            </a:r>
            <a:endParaRPr dirty="0"/>
          </a:p>
        </ns0:txBody>
      </ns0:sp>
      <ns0:sp>
        <ns0:nvSpPr>
          <ns0:cNvPr id="145" name="Google Shape;145;p16"/>
          <ns0:cNvSpPr txBox="1"/>
          <ns0:nvPr/>
        </ns0:nvSpPr>
        <ns0:spPr>
          <a:xfrm>
            <a:off x="571500" y="1657350"/>
            <a:ext cx="6104603" cy="96026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Playfair Display SemiBold"/>
                <a:ea typeface="Playfair Display SemiBold"/>
                <a:cs typeface="Playfair Display SemiBold"/>
                <a:sym typeface="Playfair Display SemiBold"/>
                <a:solidFill>
                  <a:srgbClr val="FF0000"/>
                </a:solidFill>
              </a:rPr>
              <a:t>IQRA grounds answers in curated sources with scholarly governance</a:t>
            </a:r>
            <a:endParaRPr dirty="0"/>
          </a:p>
        </ns0:txBody>
      </ns0:sp>
      <ns0:sp>
        <ns0:nvSpPr>
          <ns0:cNvPr id="147" name="Google Shape;147;p16"/>
          <ns0:cNvSpPr txBox="1"/>
          <ns0:nvPr/>
        </ns0:nvSpPr>
        <ns0:spPr>
          <a:xfrm>
            <a:off x="1047750" y="2777682"/>
            <a:ext cx="4762500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Retrieval-grounded assistant:</a:t>
            </a: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 retrieved answers are grounded in indexed source material rather than unsupported model output</a:t>
            </a:r>
            <a:endParaRPr sz="1500" dirty="0"/>
          </a:p>
        </ns0:txBody>
      </ns0:sp>
      <ns0:sp>
        <ns0:nvSpPr>
          <ns0:cNvPr id="148" name="Google Shape;148;p16"/>
          <ns0:cNvSpPr txBox="1"/>
          <ns0:nvPr/>
        </ns0:nvSpPr>
        <ns0:spPr>
          <a:xfrm>
            <a:off x="1047750" y="3607468"/>
            <a:ext cx="4762500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Five knowledge domains: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creed, jurisprudence of transactions, hadith authentication, ethics, and history</a:t>
            </a:r>
            <a:endParaRPr sz="1500" dirty="0"/>
          </a:p>
        </ns0:txBody>
      </ns0:sp>
      <ns0:sp>
        <ns0:nvSpPr>
          <ns0:cNvPr id="149" name="Google Shape;149;p16"/>
          <ns0:cNvSpPr txBox="1"/>
          <ns0:nvPr/>
        </ns0:nvSpPr>
        <ns0:spPr>
          <a:xfrm>
            <a:off x="1047750" y="4408624"/>
            <a:ext cx="4762500" cy="692497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Zero Comparative Religion policy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and a total ban on optimizing Haram activity — guardrails built in, not bolted on</a:t>
            </a:r>
            <a:endParaRPr sz="1500" dirty="0"/>
          </a:p>
        </ns0:txBody>
      </ns0:sp>
      <ns0:sp>
        <ns0:nvSpPr>
          <ns0:cNvPr id="150" name="Google Shape;150;p16"/>
          <ns0:cNvSpPr txBox="1"/>
          <ns0:nvPr/>
        </ns0:nvSpPr>
        <ns0:spPr>
          <a:xfrm>
            <a:off x="1047750" y="5337596"/>
            <a:ext cx="4762500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Grounded answers include citations and confidence labels</a:t>
            </a: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 so users can assess and verify the supporting source context.</a:t>
            </a:r>
            <a:endParaRPr sz="1500" dirty="0"/>
          </a:p>
        </ns0:txBody>
      </ns0:sp>
      <ns0:pic>
        <ns0:nvPicPr>
          <ns0:cNvPr id="151" name="Google Shape;151;p16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2904270"/>
            <a:ext cx="25717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2" name="Google Shape;152;p16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666750" y="3724225"/>
            <a:ext cx="25717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3" name="Google Shape;153;p16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666750" y="4692530"/>
            <a:ext cx="22860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4" name="Google Shape;154;p16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666750" y="5464184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55" name="Google Shape;155;p16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SOLUTION</a:t>
            </a:r>
            <a:endParaRPr/>
          </a:p>
        </ns0:txBody>
      </ns0:sp>
      <ns0:sp>
        <ns0:nvSpPr>
          <ns0:cNvPr id="156" name="Google Shape;156;p16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2" name="Picture 1" descr="Solution - Free miscellaneous icons">
            <a:extLst>
              <a:ext uri="{FF2B5EF4-FFF2-40B4-BE49-F238E27FC236}">
                <ns3:creationId id="{72E5D66D-08A2-2CCC-8D7E-F769179CE2E1}"/>
              </a:ext>
            </a:extLst>
          </ns0:cNvPr>
          <ns0:cNvPicPr>
            <a:picLocks noChangeAspect="1"/>
          </ns0:cNvPicPr>
          <ns0:nvPr/>
        </ns0:nvPicPr>
        <ns0:blipFill>
          <a:blip ns2:embed="rId9"/>
          <a:stretch>
            <a:fillRect/>
          </a:stretch>
        </ns0:blipFill>
        <ns0:spPr>
          <a:xfrm>
            <a:off x="7247603" y="1752600"/>
            <a:ext cx="4245264" cy="4245264"/>
          </a:xfrm>
          <a:prstGeom prst="rect">
            <a:avLst/>
          </a:prstGeom>
        </ns0:spPr>
      </ns0:pic>
      <ns0:sp>
        <ns0:nvSpPr>
          <ns0:cNvPr id="4" name="Google Shape;90;p13">
            <a:extLst>
              <a:ext uri="{FF2B5EF4-FFF2-40B4-BE49-F238E27FC236}">
                <ns3:creationId id="{F14EDCFE-D208-8EDC-D0AD-2067346EC6EB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71562C12-0AE9-BDE8-2928-87783F5AAA72}"/>
              </a:ext>
            </a:extLst>
          </ns0:cNvPr>
          <ns0:cNvPicPr>
            <a:picLocks noChangeAspect="1"/>
          </ns0:cNvPicPr>
          <ns0:nvPr/>
        </ns0:nvPicPr>
        <ns0:blipFill>
          <a:blip ns2:embed="rId10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powerpoint/2010/main" xmlns:ns4="http://schemas.microsoft.com/office/drawing/2014/main" xmlns:ns5="http://schemas.microsoft.com/office/drawing/2010/main">
  <ns0:cSld>
    <ns0:bg>
      <ns0:bgPr>
        <a:solidFill>
          <a:srgbClr val="022C22"/>
        </a:solidFill>
        <a:effectLst/>
      </ns0:bgPr>
    </ns0:bg>
    <ns0:spTree>
      <ns0:nvGrpSpPr>
        <ns0:cNvPr id="1" name="Shape 160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161" name="Google Shape;161;p17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2" name="Google Shape;162;p17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64" name="Google Shape;164;p17"/>
          <ns0:cNvSpPr txBox="1"/>
          <ns0:nvPr/>
        </ns0:nvSpPr>
        <ns0:spPr>
          <a:xfrm>
            <a:off x="11210925" y="6457950"/>
            <a:ext cx="981075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05 / 15</a:t>
            </a:r>
            <a:endParaRPr dirty="0"/>
          </a:p>
        </ns0:txBody>
      </ns0:sp>
      <ns0:sp>
        <ns0:nvSpPr>
          <ns0:cNvPr id="165" name="Google Shape;165;p17"/>
          <ns0:cNvSpPr/>
          <ns0:nvPr/>
        </ns0:nvSpPr>
        <ns0:spPr>
          <a:xfrm>
            <a:off x="571500" y="2192812"/>
            <a:ext cx="11049000" cy="3928020"/>
          </a:xfrm>
          <a:prstGeom prst="roundRect">
            <a:avLst>
              <a:gd name="adj" fmla="val 0"/>
            </a:avLst>
          </a:prstGeom>
          <a:solidFill>
            <a:srgbClr val="064E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graphicFrame>
        <ns0:nvGraphicFramePr>
          <ns0:cNvPr id="166" name="Google Shape;166;p17"/>
          <ns0:cNvGraphicFramePr/>
          <ns0:nvPr>
            <ns0:extLst>
              <ns0:ext uri="{D42A27DB-BD31-4B8C-83A1-F6EECF244321}">
                <ns3:modId val="2397620675"/>
              </ns0:ext>
            </ns0:extLst>
          </ns0:nvPr>
        </ns0:nvGraphicFramePr>
        <ns0:xfrm>
          <a:off x="571500" y="2182981"/>
          <a:ext cx="11039475" cy="3928000"/>
        </ns0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27600">
                  <a:extLst>
                    <a:ext uri="{9D8B030D-6E8A-4147-A177-3AD203B41FA5}">
                      <ns4:colId val="20000"/>
                    </a:ext>
                  </a:extLst>
                </a:gridCol>
                <a:gridCol w="3311875">
                  <a:extLst>
                    <a:ext uri="{9D8B030D-6E8A-4147-A177-3AD203B41FA5}">
                      <ns4:colId val="20001"/>
                    </a:ext>
                  </a:extLst>
                </a:gridCol>
              </a:tblGrid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Playfair Display"/>
                        </a:rPr>
                        <a:t>BUILT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Playfair Display"/>
                        </a:rPr>
                        <a:t>STATUS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Live web app + installable PWA, secure accounts, multi-thread chat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Live at </a:t>
                      </a:r>
                      <a:r>
                        <a:rPr lang="en-US" sz="1500" b="1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iqra.live</a:t>
                      </a: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 &amp; </a:t>
                      </a:r>
                      <a:r>
                        <a:rPr lang="en-US" sz="1500" b="1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iqra.chat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10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ym typeface="Lato"/>
                          <a:solidFill>
                            <a:srgbClr val="FF0000"/>
                          </a:solidFill>
                        </a:rPr>
                        <a:t>424 active indexed knowledge files from 426 uploaded at the review date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Ingested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195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ym typeface="Lato"/>
                          <a:solidFill>
                            <a:srgbClr val="FF0000"/>
                          </a:solidFill>
                        </a:rPr>
                        <a:t>2,000+ curated scholar-style Q&amp;A pairs guiding answer quality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Active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195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Donations, admin knowledge management, growth analytics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Operational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10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</a:tbl>
          </a:graphicData>
        </a:graphic>
      </ns0:graphicFrame>
      <ns0:sp>
        <ns0:nvSpPr>
          <ns0:cNvPr id="167" name="Google Shape;167;p17"/>
          <ns0:cNvSpPr/>
          <ns0:nvPr/>
        </ns0:nvSpPr>
        <ns0:spPr>
          <a:xfrm>
            <a:off x="576262" y="3197423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68" name="Google Shape;168;p17"/>
          <ns0:cNvSpPr/>
          <ns0:nvPr/>
        </ns0:nvSpPr>
        <ns0:spPr>
          <a:xfrm>
            <a:off x="8303865" y="3197423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69" name="Google Shape;169;p17"/>
          <ns0:cNvSpPr/>
          <ns0:nvPr/>
        </ns0:nvSpPr>
        <ns0:spPr>
          <a:xfrm>
            <a:off x="576262" y="3968948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0" name="Google Shape;170;p17"/>
          <ns0:cNvSpPr/>
          <ns0:nvPr/>
        </ns0:nvSpPr>
        <ns0:spPr>
          <a:xfrm>
            <a:off x="8303865" y="3968948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1" name="Google Shape;171;p17"/>
          <ns0:cNvSpPr/>
          <ns0:nvPr/>
        </ns0:nvSpPr>
        <ns0:spPr>
          <a:xfrm>
            <a:off x="576262" y="4740473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2" name="Google Shape;172;p17"/>
          <ns0:cNvSpPr/>
          <ns0:nvPr/>
        </ns0:nvSpPr>
        <ns0:spPr>
          <a:xfrm>
            <a:off x="8303865" y="4740473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3" name="Google Shape;173;p17"/>
          <ns0:cNvSpPr/>
          <ns0:nvPr/>
        </ns0:nvSpPr>
        <ns0:spPr>
          <a:xfrm>
            <a:off x="576262" y="5511998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4" name="Google Shape;174;p17"/>
          <ns0:cNvSpPr/>
          <ns0:nvPr/>
        </ns0:nvSpPr>
        <ns0:spPr>
          <a:xfrm>
            <a:off x="8303865" y="5511998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179" name="Google Shape;179;p17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8589615" y="3251348"/>
            <a:ext cx="190500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0" name="Google Shape;180;p17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8589615" y="4052369"/>
            <a:ext cx="171450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1" name="Google Shape;181;p17" descr="image.png"/>
          <ns0:cNvPicPr preferRelativeResize="0"/>
          <ns0:nvPr/>
        </ns0:nvPicPr>
        <ns0:blipFill rotWithShape="1">
          <a:blip ns2:embed="rId7">
            <a:alphaModFix/>
            <a:extLst>
              <a:ext uri="{BEBA8EAE-BF5A-486C-A8C5-ECC9F3942E4B}">
                <ns5:imgProps>
                  <ns5:imgLayer ns2:embed="rId8">
                    <ns5:imgEffect>
                      <ns5:saturation sat="0"/>
                    </ns5:imgEffect>
                  </ns5:imgLayer>
                </ns5:imgProps>
              </a:ext>
            </a:extLst>
          </a:blip>
          <a:srcRect/>
          <a:stretch/>
        </ns0:blipFill>
        <ns0:spPr>
          <a:xfrm>
            <a:off x="8589615" y="4853390"/>
            <a:ext cx="171450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2" name="Google Shape;182;p17" descr="image.png"/>
          <ns0:cNvPicPr preferRelativeResize="0"/>
          <ns0:nvPr/>
        </ns0:nvPicPr>
        <ns0:blipFill rotWithShape="1">
          <a:blip ns2:embed="rId9">
            <a:alphaModFix/>
          </a:blip>
          <a:srcRect/>
          <a:stretch/>
        </ns0:blipFill>
        <ns0:spPr>
          <a:xfrm>
            <a:off x="8589615" y="5634746"/>
            <a:ext cx="190500" cy="1905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83" name="Google Shape;183;p17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TRACTION</a:t>
            </a:r>
            <a:endParaRPr/>
          </a:p>
        </ns0:txBody>
      </ns0:sp>
      <ns0:sp>
        <ns0:nvSpPr>
          <ns0:cNvPr id="184" name="Google Shape;184;p17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85" name="Google Shape;185;p17"/>
          <ns0:cNvSpPr txBox="1"/>
          <ns0:nvPr/>
        </ns0:nvSpPr>
        <ns0:spPr>
          <a:xfrm>
            <a:off x="571500" y="1450872"/>
            <a:ext cx="8090719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A working product already answers grounded questions today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4:creationId id="{B2AC743E-6108-4FC6-E8BE-29C437F8FD42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4:creationId id="{73B0FF0C-6AD8-5B17-AF72-533546DFFE76}"/>
              </a:ext>
            </a:extLst>
          </ns0:cNvPr>
          <ns0:cNvPicPr>
            <a:picLocks noChangeAspect="1"/>
          </ns0:cNvPicPr>
          <ns0:nvPr/>
        </ns0:nvPicPr>
        <ns0:blipFill>
          <a:blip ns2:embed="rId10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5450608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Near-term wedge: the 1B+ Muslims already online and underserved by authentic tools</a:t>
            </a:r>
            <a:endParaRPr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571500" y="5870663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Sources: Pew Research Center (2025); </a:t>
            </a:r>
            <a:r>
              <a:rPr lang="en-US" sz="1050" b="0" i="0" u="none" strike="noStrike" cap="none" dirty="0" err="1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DinarStandard</a:t>
            </a:r>
            <a:r>
              <a:rPr lang="en-US" sz="10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, State of the Global Islamic Economy 2024/25; Standard Chartered.</a:t>
            </a:r>
            <a:endParaRPr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11210925" y="6457950"/>
            <a:ext cx="51895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06 / 15</a:t>
            </a:r>
            <a:endParaRPr dirty="0"/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2.2B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762000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Muslims worldwide by 2030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62000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2.0B in 2025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Growing ~2x the global rate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540299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$3.36T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540299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Consumer spending by 2028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4540299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$2.43T in 2023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Across core halal sectors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318599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$7.5T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318599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Finance assets by 2028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318599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$4.9T in 2023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Deep, compounding capital base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MARKET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71500" y="1657350"/>
            <a:ext cx="708034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Two billion Muslims anchor a $2.4 trillion Islamic economy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8C8C851A-3560-4AE7-1DE4-15406EDF6B65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CE2C7-1DD5-B408-0246-97323A6770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73310"/>
            <a:ext cx="11049000" cy="405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072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502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1210925" y="6457950"/>
            <a:ext cx="49244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07 / 15</a:t>
            </a:r>
            <a:endParaRPr dirty="0"/>
          </a:p>
        </p:txBody>
      </p:sp>
      <p:sp>
        <p:nvSpPr>
          <p:cNvPr id="223" name="Google Shape;223;p19"/>
          <p:cNvSpPr/>
          <p:nvPr/>
        </p:nvSpPr>
        <p:spPr>
          <a:xfrm flipV="1">
            <a:off x="1123950" y="2799399"/>
            <a:ext cx="866775" cy="45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771524" y="5819122"/>
            <a:ext cx="106489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Cost per query targeted to fall ~40% over 12 months as knowledge confidence rises </a:t>
            </a:r>
            <a:r>
              <a:rPr lang="en-US" sz="1200" b="0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(management target)</a:t>
            </a:r>
            <a:endParaRPr sz="1050" dirty="0"/>
          </a:p>
        </p:txBody>
      </p:sp>
      <p:sp>
        <p:nvSpPr>
          <p:cNvPr id="225" name="Google Shape;225;p19"/>
          <p:cNvSpPr txBox="1"/>
          <p:nvPr/>
        </p:nvSpPr>
        <p:spPr>
          <a:xfrm>
            <a:off x="48863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Philanthropy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571500" y="4306439"/>
            <a:ext cx="33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In-app donations fund operations today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435578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Premium Tooling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4438650" y="4306439"/>
            <a:ext cx="3314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Automated chatbots, Zakat calculator, Halal investment checklist, estate planning, corporate Zakat audits</a:t>
            </a:r>
            <a:endParaRPr dirty="0"/>
          </a:p>
        </p:txBody>
      </p:sp>
      <p:sp>
        <p:nvSpPr>
          <p:cNvPr id="229" name="Google Shape;229;p19"/>
          <p:cNvSpPr txBox="1"/>
          <p:nvPr/>
        </p:nvSpPr>
        <p:spPr>
          <a:xfrm>
            <a:off x="822293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3 · YEAR 2+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B2B Licensing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305800" y="4306439"/>
            <a:ext cx="33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API access and compliance chatbots for Halal marketplaces and institutions</a:t>
            </a:r>
            <a:endParaRPr dirty="0"/>
          </a:p>
        </p:txBody>
      </p:sp>
      <p:sp>
        <p:nvSpPr>
          <p:cNvPr id="231" name="Google Shape;231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MODEL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" y="1657350"/>
            <a:ext cx="794323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Revenue scales from donations to premium tooling to B2B licensing</a:t>
            </a:r>
            <a:endParaRPr dirty="0"/>
          </a:p>
        </p:txBody>
      </p:sp>
      <p:sp>
        <p:nvSpPr>
          <p:cNvPr id="3" name="Google Shape;223;p19">
            <a:extLst>
              <a:ext uri="{FF2B5EF4-FFF2-40B4-BE49-F238E27FC236}">
                <a16:creationId xmlns:a16="http://schemas.microsoft.com/office/drawing/2014/main" id="{3E1DF012-B28D-6717-0949-3CA0AA57947D}"/>
              </a:ext>
            </a:extLst>
          </p:cNvPr>
          <p:cNvSpPr/>
          <p:nvPr/>
        </p:nvSpPr>
        <p:spPr>
          <a:xfrm flipV="1">
            <a:off x="2426717" y="2777210"/>
            <a:ext cx="343115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23;p19">
            <a:extLst>
              <a:ext uri="{FF2B5EF4-FFF2-40B4-BE49-F238E27FC236}">
                <a16:creationId xmlns:a16="http://schemas.microsoft.com/office/drawing/2014/main" id="{B11FA721-696A-7259-C7BE-C25431F0EE44}"/>
              </a:ext>
            </a:extLst>
          </p:cNvPr>
          <p:cNvSpPr/>
          <p:nvPr/>
        </p:nvSpPr>
        <p:spPr>
          <a:xfrm flipV="1">
            <a:off x="6293867" y="2769251"/>
            <a:ext cx="343115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23;p19">
            <a:extLst>
              <a:ext uri="{FF2B5EF4-FFF2-40B4-BE49-F238E27FC236}">
                <a16:creationId xmlns:a16="http://schemas.microsoft.com/office/drawing/2014/main" id="{F8225845-21CC-F759-2FF5-B12DE45DA1B0}"/>
              </a:ext>
            </a:extLst>
          </p:cNvPr>
          <p:cNvSpPr/>
          <p:nvPr/>
        </p:nvSpPr>
        <p:spPr>
          <a:xfrm flipV="1">
            <a:off x="10188344" y="2766741"/>
            <a:ext cx="866775" cy="45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3901D3BF-84C6-2CA4-D99B-1F7B93DE760A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4AEAD-40A1-3653-E629-360FE5EE77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237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38" name="Google Shape;238;p20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39" name="Google Shape;239;p20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40" name="Google Shape;240;p20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438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41" name="Google Shape;241;p20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819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42" name="Google Shape;242;p20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43" name="Google Shape;243;p20"/>
          <ns0:cNvSpPr txBox="1"/>
          <ns0:nvPr/>
        </ns0:nvSpPr>
        <ns0:spPr>
          <a:xfrm>
            <a:off x="571500" y="5684489"/>
            <a:ext cx="11049000" cy="4062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Milestone path: live product → engaged base → 1M daily active users as a 24-month management target </a:t>
            </a:r>
            <a:r>
              <a:rPr lang="en-US" sz="1650" b="0" i="0" u="none" strike="noStrike" cap="none" dirty="0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(target, not current)</a:t>
            </a:r>
            <a:endParaRPr dirty="0"/>
          </a:p>
        </ns0:txBody>
      </ns0:sp>
      <ns0:sp>
        <ns0:nvSpPr>
          <ns0:cNvPr id="245" name="Google Shape;245;p20"/>
          <ns0:cNvSpPr txBox="1"/>
          <ns0:nvPr/>
        </ns0:nvSpPr>
        <ns0:spPr>
          <a:xfrm>
            <a:off x="11210925" y="6457950"/>
            <a:ext cx="509127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08 / 15</a:t>
            </a:r>
            <a:endParaRPr dirty="0"/>
          </a:p>
        </ns0:txBody>
      </ns0:sp>
      <ns0:sp>
        <ns0:nvSpPr>
          <ns0:cNvPr id="246" name="Google Shape;246;p20"/>
          <ns0:cNvSpPr txBox="1"/>
          <ns0:nvPr/>
        </ns0:nvSpPr>
        <ns0:spPr>
          <a:xfrm>
            <a:off x="1520904" y="3569940"/>
            <a:ext cx="1530191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Community</a:t>
            </a:r>
            <a:endParaRPr/>
          </a:p>
        </ns0:txBody>
      </ns0:sp>
      <ns0:sp>
        <ns0:nvSpPr>
          <ns0:cNvPr id="247" name="Google Shape;247;p20"/>
          <ns0:cNvSpPr txBox="1"/>
          <ns0:nvPr/>
        </ns0:nvSpPr>
        <ns0:spPr>
          <a:xfrm>
            <a:off x="866775" y="4065240"/>
            <a:ext cx="2838450" cy="1107996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Mosque, university, and scholar networks; shareable, source-cited answers</a:t>
            </a:r>
            <a:endParaRPr dirty="0"/>
          </a:p>
        </ns0:txBody>
      </ns0:sp>
      <ns0:sp>
        <ns0:nvSpPr>
          <ns0:cNvPr id="248" name="Google Shape;248;p20"/>
          <ns0:cNvSpPr txBox="1"/>
          <ns0:nvPr/>
        </ns0:nvSpPr>
        <ns0:spPr>
          <a:xfrm>
            <a:off x="5145881" y="3569940"/>
            <a:ext cx="1900237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Product Depth</a:t>
            </a:r>
            <a:endParaRPr/>
          </a:p>
        </ns0:txBody>
      </ns0:sp>
      <ns0:sp>
        <ns0:nvSpPr>
          <ns0:cNvPr id="249" name="Google Shape;249;p20"/>
          <ns0:cNvSpPr txBox="1"/>
          <ns0:nvPr/>
        </ns0:nvSpPr>
        <ns0:spPr>
          <a:xfrm>
            <a:off x="4676775" y="4065240"/>
            <a:ext cx="2838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Premium tools convert engaged users; PWA install lowers friction.</a:t>
            </a:r>
            <a:endParaRPr dirty="0"/>
          </a:p>
        </ns0:txBody>
      </ns0:sp>
      <ns0:sp>
        <ns0:nvSpPr>
          <ns0:cNvPr id="250" name="Google Shape;250;p20"/>
          <ns0:cNvSpPr txBox="1"/>
          <ns0:nvPr/>
        </ns0:nvSpPr>
        <ns0:spPr>
          <a:xfrm>
            <a:off x="9070895" y="3569940"/>
            <a:ext cx="1670208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Partnerships</a:t>
            </a:r>
            <a:endParaRPr/>
          </a:p>
        </ns0:txBody>
      </ns0:sp>
      <ns0:sp>
        <ns0:nvSpPr>
          <ns0:cNvPr id="251" name="Google Shape;251;p20"/>
          <ns0:cNvSpPr txBox="1"/>
          <ns0:nvPr/>
        </ns0:nvSpPr>
        <ns0:spPr>
          <a:xfrm>
            <a:off x="8486775" y="4065240"/>
            <a:ext cx="2838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Islamic institutions and libraries drive credibility and distribution.</a:t>
            </a:r>
            <a:endParaRPr/>
          </a:p>
        </ns0:txBody>
      </ns0:sp>
      <ns0:pic>
        <ns0:nvPicPr>
          <ns0:cNvPr id="252" name="Google Shape;252;p20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1985962" y="2807940"/>
            <a:ext cx="600075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53" name="Google Shape;253;p20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5829300" y="2807940"/>
            <a:ext cx="533400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54" name="Google Shape;254;p20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9605962" y="2807940"/>
            <a:ext cx="600075" cy="4762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55" name="Google Shape;255;p20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GROWTH</a:t>
            </a:r>
            <a:endParaRPr/>
          </a:p>
        </ns0:txBody>
      </ns0:sp>
      <ns0:sp>
        <ns0:nvSpPr>
          <ns0:cNvPr id="256" name="Google Shape;256;p20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257" name="Google Shape;257;p20"/>
          <ns0:cNvSpPr txBox="1"/>
          <ns0:nvPr/>
        </ns0:nvSpPr>
        <ns0:spPr>
          <a:xfrm>
            <a:off x="571499" y="1657350"/>
            <a:ext cx="7549945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Reaching one million daily users runs on three growth engines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3:creationId id="{1BE405B1-BDF9-E78D-B49C-5EF585DADD16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3:creationId id="{FE07877B-F542-AFDB-DCE2-6D682BC6AAC5}"/>
              </a:ext>
            </a:extLst>
          </ns0:cNvPr>
          <ns0:cNvPicPr>
            <a:picLocks noChangeAspect="1"/>
          </ns0:cNvPicPr>
          <ns0:nvPr/>
        </ns0:nvPicPr>
        <ns0:blipFill>
          <a:blip ns2:embed="rId9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261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62" name="Google Shape;262;p21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3" name="Google Shape;263;p21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4" name="Google Shape;264;p21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438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5" name="Google Shape;265;p21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819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6" name="Google Shape;266;p21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67" name="Google Shape;267;p21"/>
          <ns0:cNvSpPr txBox="1"/>
          <ns0:nvPr/>
        </ns0:nvSpPr>
        <ns0:spPr>
          <a:xfrm>
            <a:off x="571500" y="5930354"/>
            <a:ext cx="11049000" cy="21327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Source: Pew Research Center (regional distribution).</a:t>
            </a:r>
            <a:endParaRPr/>
          </a:p>
        </ns0:txBody>
      </ns0:sp>
      <ns0:sp>
        <ns0:nvSpPr>
          <ns0:cNvPr id="269" name="Google Shape;269;p21"/>
          <ns0:cNvSpPr txBox="1"/>
          <ns0:nvPr/>
        </ns0:nvSpPr>
        <ns0:spPr>
          <a:xfrm>
            <a:off x="11210925" y="6457951"/>
            <a:ext cx="58778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09 / 15</a:t>
            </a:r>
            <a:endParaRPr dirty="0"/>
          </a:p>
        </ns0:txBody>
      </ns0:sp>
      <ns0:sp>
        <ns0:nvSpPr>
          <ns0:cNvPr id="270" name="Google Shape;270;p21"/>
          <ns0:cNvSpPr txBox="1"/>
          <ns0:nvPr/>
        </ns0:nvSpPr>
        <ns0:spPr>
          <a:xfrm>
            <a:off x="1580911" y="3569940"/>
            <a:ext cx="1410176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Knowledge</a:t>
            </a:r>
            <a:endParaRPr/>
          </a:p>
        </ns0:txBody>
      </ns0:sp>
      <ns0:sp>
        <ns0:nvSpPr>
          <ns0:cNvPr id="271" name="Google Shape;271;p21"/>
          <ns0:cNvSpPr txBox="1"/>
          <ns0:nvPr/>
        </ns0:nvSpPr>
        <ns0:spPr>
          <a:xfrm>
            <a:off x="866775" y="4016080"/>
            <a:ext cx="2838450" cy="1477328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Scale the current indexed corpus through staged library partnerships, subject to rights, quality checks, and scholar review.</a:t>
            </a:r>
            <a:endParaRPr dirty="0"/>
          </a:p>
        </ns0:txBody>
      </ns0:sp>
      <ns0:sp>
        <ns0:nvSpPr>
          <ns0:cNvPr id="272" name="Google Shape;272;p21"/>
          <ns0:cNvSpPr txBox="1"/>
          <ns0:nvPr/>
        </ns0:nvSpPr>
        <ns0:spPr>
          <a:xfrm>
            <a:off x="5480923" y="3569940"/>
            <a:ext cx="1230153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Language</a:t>
            </a:r>
            <a:endParaRPr/>
          </a:p>
        </ns0:txBody>
      </ns0:sp>
      <ns0:sp>
        <ns0:nvSpPr>
          <ns0:cNvPr id="273" name="Google Shape;273;p21"/>
          <ns0:cNvSpPr txBox="1"/>
          <ns0:nvPr/>
        </ns0:nvSpPr>
        <ns0:spPr>
          <a:xfrm>
            <a:off x="4676775" y="3986584"/>
            <a:ext cx="2838450" cy="1477328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Extend beyond English to Arabic, Urdu, and Bahasa Indonesia, with later regional localization; 60% of Muslims live in Asia-Pacific.</a:t>
            </a:r>
            <a:endParaRPr dirty="0"/>
          </a:p>
        </ns0:txBody>
      </ns0:sp>
      <ns0:sp>
        <ns0:nvSpPr>
          <ns0:cNvPr id="274" name="Google Shape;274;p21"/>
          <ns0:cNvSpPr txBox="1"/>
          <ns0:nvPr/>
        </ns0:nvSpPr>
        <ns0:spPr>
          <a:xfrm>
            <a:off x="9455943" y="3569940"/>
            <a:ext cx="900112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Market</a:t>
            </a:r>
            <a:endParaRPr/>
          </a:p>
        </ns0:txBody>
      </ns0:sp>
      <ns0:sp>
        <ns0:nvSpPr>
          <ns0:cNvPr id="275" name="Google Shape;275;p21"/>
          <ns0:cNvSpPr txBox="1"/>
          <ns0:nvPr/>
        </ns0:nvSpPr>
        <ns0:spPr>
          <a:xfrm>
            <a:off x="8486775" y="4065240"/>
            <a:ext cx="2838450" cy="9144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Consumer app first, then B2B API and compliance tooling for the Halal economy.</a:t>
            </a:r>
            <a:endParaRPr dirty="0"/>
          </a:p>
        </ns0:txBody>
      </ns0:sp>
      <ns0:pic>
        <ns0:nvPicPr>
          <ns0:cNvPr id="276" name="Google Shape;276;p21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2076450" y="2807940"/>
            <a:ext cx="419100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77" name="Google Shape;277;p21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5795962" y="2807940"/>
            <a:ext cx="600075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78" name="Google Shape;278;p21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9667875" y="2807940"/>
            <a:ext cx="476250" cy="4762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79" name="Google Shape;279;p21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EXPANSION</a:t>
            </a:r>
            <a:endParaRPr/>
          </a:p>
        </ns0:txBody>
      </ns0:sp>
      <ns0:sp>
        <ns0:nvSpPr>
          <ns0:cNvPr id="280" name="Google Shape;280;p21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281" name="Google Shape;281;p21"/>
          <ns0:cNvSpPr txBox="1"/>
          <ns0:nvPr/>
        </ns0:nvSpPr>
        <ns0:spPr>
          <a:xfrm>
            <a:off x="571500" y="1657350"/>
            <a:ext cx="7717094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Expansion advances across knowledge, language, and market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3:creationId id="{A3F915DB-8379-8722-93F8-B613DD78F93A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3:creationId id="{F2216AC5-510E-83EF-164B-478A34E2B706}"/>
              </a:ext>
            </a:extLst>
          </ns0:cNvPr>
          <ns0:cNvPicPr>
            <a:picLocks noChangeAspect="1"/>
          </ns0:cNvPicPr>
          <ns0:nvPr/>
        </ns0:nvPicPr>
        <ns0:blipFill>
          <a:blip ns2:embed="rId9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285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86" name="Google Shape;286;p22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88" name="Google Shape;288;p22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90" name="Google Shape;290;p22"/>
          <ns0:cNvSpPr txBox="1"/>
          <ns0:nvPr/>
        </ns0:nvSpPr>
        <ns0:spPr>
          <a:xfrm>
            <a:off x="11210925" y="6457950"/>
            <a:ext cx="600075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10 / 15</a:t>
            </a:r>
            <a:endParaRPr dirty="0"/>
          </a:p>
        </ns0:txBody>
      </ns0:sp>
      <ns0:sp>
        <ns0:nvSpPr>
          <ns0:cNvPr id="291" name="Google Shape;291;p22"/>
          <ns0:cNvSpPr txBox="1"/>
          <ns0:nvPr/>
        </ns0:nvSpPr>
        <ns0:spPr>
          <a:xfrm>
            <a:off x="571500" y="5537826"/>
            <a:ext cx="11049000" cy="4062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Indicative terms: $2.5M seed for ~15% equity (~$16.7M post-money), via SAFE or priced round</a:t>
            </a:r>
            <a:endParaRPr dirty="0"/>
          </a:p>
        </ns0:txBody>
      </ns0:sp>
      <ns0:sp>
        <ns0:nvSpPr>
          <ns0:cNvPr id="292" name="Google Shape;292;p22"/>
          <ns0:cNvSpPr txBox="1"/>
          <ns0:nvPr/>
        </ns0:nvSpPr>
        <ns0:spPr>
          <a:xfrm>
            <a:off x="680357" y="5884588"/>
            <a:ext cx="11049000" cy="57298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7F3D0"/>
                </a:solidFill>
                <a:latin typeface="Lato"/>
                <a:ea typeface="Lato"/>
                <a:cs typeface="Lato"/>
                <a:sym typeface="Lato"/>
              </a:rPr>
              <a:t>Values-aligned capital only: partners uphold the Zero Comparative Religion policy and Isnad Board independence.</a:t>
            </a:r>
            <a:endParaRPr dirty="0"/>
          </a:p>
        </ns0:txBody>
      </ns0:sp>
      <ns0:sp>
        <ns0:nvSpPr>
          <ns0:cNvPr id="294" name="Google Shape;294;p22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ASK</a:t>
            </a:r>
            <a:endParaRPr/>
          </a:p>
        </ns0:txBody>
      </ns0:sp>
      <ns0:sp>
        <ns0:nvSpPr>
          <ns0:cNvPr id="295" name="Google Shape;295;p22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296" name="Google Shape;296;p22"/>
          <ns0:cNvSpPr txBox="1"/>
          <ns0:nvPr/>
        </ns0:nvSpPr>
        <ns0:spPr>
          <a:xfrm>
            <a:off x="571500" y="1526718"/>
            <a:ext cx="9575390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latin typeface="Lato Light"/>
                <a:ea typeface="Lato Light"/>
                <a:cs typeface="Lato Light"/>
                <a:sym typeface="Lato Light"/>
                <a:solidFill>
                  <a:srgbClr val="FF0000"/>
                </a:solidFill>
              </a:rPr>
              <a:t>We are raising $2.5M to target one million daily active users and B2B revenue within 24 months</a:t>
            </a:r>
            <a:endParaRPr dirty="0"/>
          </a:p>
        </ns0:txBody>
      </ns0:sp>
      <ns0:grpSp>
        <ns0:nvGrpSpPr>
          <ns0:cNvPr id="8" name="Group 7">
            <a:extLst>
              <a:ext uri="{FF2B5EF4-FFF2-40B4-BE49-F238E27FC236}">
                <ns3:creationId id="{93F9099A-D1B5-ED9D-58C7-99F1B4FCCA51}"/>
              </a:ext>
            </a:extLst>
          </ns0:cNvPr>
          <ns0:cNvGrpSpPr/>
          <ns0:nvPr/>
        </ns0:nvGrpSpPr>
        <ns0:grpSpPr>
          <a:xfrm>
            <a:off x="2451919" y="2237764"/>
            <a:ext cx="7288161" cy="3323800"/>
            <a:chOff x="2451919" y="2286417"/>
            <a:chExt cx="7288161" cy="3323800"/>
          </a:xfrm>
        </ns0:grpSpPr>
        <ns0:pic>
          <ns0:nvPicPr>
            <ns0:cNvPr id="5" name="Picture 4">
              <a:extLst>
                <a:ext uri="{FF2B5EF4-FFF2-40B4-BE49-F238E27FC236}">
                  <ns3:creationId id="{6D8042F3-9610-2525-49E6-CE1CAF25370E}"/>
                </a:ext>
              </a:extLst>
            </ns0:cNvPr>
            <ns0:cNvPicPr>
              <a:picLocks noChangeAspect="1"/>
            </ns0:cNvPicPr>
            <ns0:nvPr/>
          </ns0:nvPicPr>
          <ns0:blipFill>
            <a:blip ns2:embed="rId5"/>
            <a:stretch>
              <a:fillRect/>
            </a:stretch>
          </ns0:blipFill>
          <ns0:spPr>
            <a:xfrm>
              <a:off x="2451919" y="2286417"/>
              <a:ext cx="7288161" cy="3323800"/>
            </a:xfrm>
            <a:prstGeom prst="rect">
              <a:avLst/>
            </a:prstGeom>
          </ns0:spPr>
        </ns0:pic>
        <ns0:pic>
          <ns0:nvPicPr>
            <ns0:cNvPr id="7" name="Picture 6">
              <a:extLst>
                <a:ext uri="{FF2B5EF4-FFF2-40B4-BE49-F238E27FC236}">
                  <ns3:creationId id="{7DD55B00-B4D8-CC2C-6F44-8FBA459EADA0}"/>
                </a:ext>
              </a:extLst>
            </ns0:cNvPr>
            <ns0:cNvPicPr>
              <a:picLocks noChangeAspect="1"/>
            </ns0:cNvPicPr>
            <ns0:nvPr/>
          </ns0:nvPicPr>
          <ns0:blipFill>
            <a:blip ns2:embed="rId5"/>
            <a:srcRect l="92867" t="88693"/>
            <a:stretch>
              <a:fillRect/>
            </a:stretch>
          </ns0:blipFill>
          <ns0:spPr>
            <a:xfrm>
              <a:off x="8893628" y="4885422"/>
              <a:ext cx="519880" cy="375828"/>
            </a:xfrm>
            <a:prstGeom prst="rect">
              <a:avLst/>
            </a:prstGeom>
          </ns0:spPr>
        </ns0:pic>
      </ns0:grpSp>
      <ns0:sp>
        <ns0:nvSpPr>
          <ns0:cNvPr id="3" name="Google Shape;90;p13">
            <a:extLst>
              <a:ext uri="{FF2B5EF4-FFF2-40B4-BE49-F238E27FC236}">
                <ns3:creationId id="{9D994854-495B-04B5-0881-72A84653509B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03B116B3-CEF8-EFBF-85DE-5C449ABF6715}"/>
              </a:ext>
            </a:extLst>
          </ns0:cNvPr>
          <ns0:cNvPicPr>
            <a:picLocks noChangeAspect="1"/>
          </ns0:cNvPicPr>
          <ns0:nvPr/>
        </ns0:nvPicPr>
        <ns0:blipFill>
          <a:blip ns2:embed="rId6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2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300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301" name="Google Shape;301;p23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02" name="Google Shape;302;p23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304" name="Google Shape;304;p23"/>
          <ns0:cNvSpPr txBox="1"/>
          <ns0:nvPr/>
        </ns0:nvSpPr>
        <ns0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11 / 15</a:t>
            </a:r>
            <a:endParaRPr dirty="0"/>
          </a:p>
        </ns0:txBody>
      </ns0:sp>
      <ns0:sp>
        <ns0:nvSpPr>
          <ns0:cNvPr id="305" name="Google Shape;305;p23"/>
          <ns0:cNvSpPr txBox="1"/>
          <ns0:nvPr/>
        </ns0:nvSpPr>
        <ns0:spPr>
          <a:xfrm>
            <a:off x="1047750" y="2800963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~24 months of runway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to hit the milestones investors underwrite.</a:t>
            </a:r>
            <a:endParaRPr dirty="0"/>
          </a:p>
        </ns0:txBody>
      </ns0:sp>
      <ns0:sp>
        <ns0:nvSpPr>
          <ns0:cNvPr id="306" name="Google Shape;306;p23"/>
          <ns0:cNvSpPr txBox="1"/>
          <ns0:nvPr/>
        </ns0:nvSpPr>
        <ns0:spPr>
          <a:xfrm>
            <a:off x="1047750" y="3374249"/>
            <a:ext cx="10572750" cy="4062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Funds the jump from </a:t>
            </a:r>
            <a:r>
              <a:rPr lang="en-US" sz="1650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the current indexed corpus</a:t>
            </a:r>
            <a:r>
              <a:rPr lang="en-US" sz="165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 toward a scaled, scholar-reviewed library —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core defensibility.</a:t>
            </a:r>
            <a:endParaRPr dirty="0"/>
          </a:p>
        </ns0:txBody>
      </ns0:sp>
      <ns0:sp>
        <ns0:nvSpPr>
          <ns0:cNvPr id="307" name="Google Shape;307;p23"/>
          <ns0:cNvSpPr txBox="1"/>
          <ns0:nvPr/>
        </ns0:nvSpPr>
        <ns0:spPr>
          <a:xfrm>
            <a:off x="1047750" y="3947535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Targets a </a:t>
            </a:r>
            <a:r>
              <a:rPr lang="en-US" sz="1650" b="1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~40% reduction in cost per query (management target)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as knowledge confidence rises.</a:t>
            </a:r>
            <a:endParaRPr dirty="0"/>
          </a:p>
        </ns0:txBody>
      </ns0:sp>
      <ns0:sp>
        <ns0:nvSpPr>
          <ns0:cNvPr id="308" name="Google Shape;308;p23"/>
          <ns0:cNvSpPr txBox="1"/>
          <ns0:nvPr/>
        </ns0:nvSpPr>
        <ns0:spPr>
          <a:xfrm>
            <a:off x="1047750" y="4520821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Stands up the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B2B API alpha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that opens high-margin recurring revenue in Year 2+.</a:t>
            </a:r>
            <a:endParaRPr dirty="0"/>
          </a:p>
        </ns0:txBody>
      </ns0:sp>
      <ns0:sp>
        <ns0:nvSpPr>
          <ns0:cNvPr id="309" name="Google Shape;309;p23"/>
          <ns0:cNvSpPr txBox="1"/>
          <ns0:nvPr/>
        </ns0:nvSpPr>
        <ns0:spPr>
          <a:xfrm>
            <a:off x="1047750" y="5094107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Right-sized: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enough to reach scale and B2B, small enough to keep the round efficient.</a:t>
            </a:r>
            <a:endParaRPr dirty="0"/>
          </a:p>
        </ns0:txBody>
      </ns0:sp>
      <ns0:pic>
        <ns0:nvPicPr>
          <ns0:cNvPr id="310" name="Google Shape;310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2980580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1" name="Google Shape;311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3553866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2" name="Google Shape;312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4127152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3" name="Google Shape;313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4700438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4" name="Google Shape;314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5273724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315" name="Google Shape;315;p23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JUSTIFICATION</a:t>
            </a:r>
            <a:endParaRPr dirty="0"/>
          </a:p>
        </ns0:txBody>
      </ns0:sp>
      <ns0:sp>
        <ns0:nvSpPr>
          <ns0:cNvPr id="316" name="Google Shape;316;p23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317" name="Google Shape;317;p23"/>
          <ns0:cNvSpPr txBox="1"/>
          <ns0:nvPr/>
        </ns0:nvSpPr>
        <ns0:spPr>
          <a:xfrm>
            <a:off x="571500" y="1657350"/>
            <a:ext cx="7897586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The raise funds a clear path from live product to recurring revenue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3:creationId id="{244DF68D-C274-43E8-6E3D-B4628200610A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3:creationId id="{AD4BAF36-3602-B9AF-677E-E5A9FFF1508C}"/>
              </a:ext>
            </a:extLst>
          </ns0:cNvPr>
          <ns0:cNvPicPr>
            <a:picLocks noChangeAspect="1"/>
          </ns0:cNvPicPr>
          <ns0:nvPr/>
        </ns0:nvPicPr>
        <ns0:blipFill>
          <a:blip ns2:embed="rId6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>
  <ns0:cSld>
    <ns0:spTree>
      <ns0:nvGrpSpPr>
        <ns0:cNvPr id="1" name="Shape 134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4" name="Google Shape;301;p23" descr="image.png">
            <a:extLst>
              <a:ext uri="{FF2B5EF4-FFF2-40B4-BE49-F238E27FC236}">
                <ns2:creationId id="{6AFE60A1-FA66-5D27-BD7C-8C0A83F16794}"/>
              </a:ext>
            </a:extLst>
          </ns0:cNvPr>
          <ns0:cNvPicPr preferRelativeResize="0"/>
          <ns0:nvPr/>
        </ns0:nvPicPr>
        <ns0:blipFill rotWithShape="1">
          <a:blip ns3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5" name="Google Shape;135;p16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6096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ns0:spPr>
      </ns0:pic>
      <ns0:pic>
        <ns0:nvPicPr>
          <ns0:cNvPr id="136" name="Google Shape;136;p16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43434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ns0:spPr>
      </ns0:pic>
      <ns0:pic>
        <ns0:nvPicPr>
          <ns0:cNvPr id="137" name="Google Shape;137;p16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80772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ns0:spPr>
      </ns0:pic>
      <ns0:sp>
        <ns0:nvSpPr>
          <ns0:cNvPr id="139" name="Google Shape;139;p16"/>
          <ns0:cNvSpPr txBox="1"/>
          <ns0:nvPr/>
        </ns0:nvSpPr>
        <ns0:spPr>
          <a:xfrm>
            <a:off x="529590" y="1244430"/>
            <a:ext cx="11521440" cy="4286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bg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3-Year Trajectory to Sustainable Scale</a:t>
            </a:r>
            <a:endParaRPr dirty="0">
              <a:solidFill>
                <a:schemeClr val="bg1"/>
              </a:solidFill>
            </a:endParaRPr>
          </a:p>
        </ns0:txBody>
      </ns0:sp>
      <ns0:sp>
        <ns0:nvSpPr>
          <ns0:cNvPr id="140" name="Google Shape;140;p16"/>
          <ns0:cNvSpPr txBox="1"/>
          <ns0:nvPr/>
        </ns0:nvSpPr>
        <ns0:spPr>
          <a:xfrm>
            <a:off x="923925" y="3162300"/>
            <a:ext cx="2876550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YEAR 1 (Illustrative target)</a:t>
            </a:r>
            <a:endParaRPr dirty="0"/>
          </a:p>
        </ns0:txBody>
      </ns0:sp>
      <ns0:sp>
        <ns0:nvSpPr>
          <ns0:cNvPr id="141" name="Google Shape;141;p16"/>
          <ns0:cNvSpPr txBox="1"/>
          <ns0:nvPr/>
        </ns0:nvSpPr>
        <ns0:spPr>
          <a:xfrm>
            <a:off x="923925" y="3409950"/>
            <a:ext cx="3020377" cy="28575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$250K - $400K</a:t>
            </a:r>
            <a:endParaRPr dirty="0"/>
          </a:p>
        </ns0:txBody>
      </ns0:sp>
      <ns0:sp>
        <ns0:nvSpPr>
          <ns0:cNvPr id="142" name="Google Shape;142;p16"/>
          <ns0:cNvSpPr txBox="1"/>
          <ns0:nvPr/>
        </ns0:nvSpPr>
        <ns0:spPr>
          <a:xfrm>
            <a:off x="4657725" y="3162300"/>
            <a:ext cx="2876550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YEAR 2 (Illustrative target)</a:t>
            </a:r>
            <a:endParaRPr dirty="0"/>
          </a:p>
        </ns0:txBody>
      </ns0:sp>
      <ns0:sp>
        <ns0:nvSpPr>
          <ns0:cNvPr id="143" name="Google Shape;143;p16"/>
          <ns0:cNvSpPr txBox="1"/>
          <ns0:nvPr/>
        </ns0:nvSpPr>
        <ns0:spPr>
          <a:xfrm>
            <a:off x="4657725" y="3409950"/>
            <a:ext cx="3020377" cy="28575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$1.2M - $1.8M</a:t>
            </a:r>
            <a:endParaRPr/>
          </a:p>
        </ns0:txBody>
      </ns0:sp>
      <ns0:sp>
        <ns0:nvSpPr>
          <ns0:cNvPr id="144" name="Google Shape;144;p16"/>
          <ns0:cNvSpPr txBox="1"/>
          <ns0:nvPr/>
        </ns0:nvSpPr>
        <ns0:spPr>
          <a:xfrm>
            <a:off x="8391525" y="3162300"/>
            <a:ext cx="2876550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YEAR 3 (Illustrative target)</a:t>
            </a:r>
            <a:endParaRPr dirty="0"/>
          </a:p>
        </ns0:txBody>
      </ns0:sp>
      <ns0:sp>
        <ns0:nvSpPr>
          <ns0:cNvPr id="145" name="Google Shape;145;p16"/>
          <ns0:cNvSpPr txBox="1"/>
          <ns0:nvPr/>
        </ns0:nvSpPr>
        <ns0:spPr>
          <a:xfrm>
            <a:off x="8391525" y="3409950"/>
            <a:ext cx="3020377" cy="28575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$4.5M - $6.5M</a:t>
            </a:r>
            <a:endParaRPr/>
          </a:p>
        </ns0:txBody>
      </ns0:sp>
      <ns0:sp>
        <ns0:nvSpPr>
          <ns0:cNvPr id="146" name="Google Shape;146;p16"/>
          <ns0:cNvSpPr txBox="1"/>
          <ns0:nvPr/>
        </ns0:nvSpPr>
        <ns0:spPr>
          <a:xfrm>
            <a:off x="1123950" y="384810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user acquisition</a:t>
            </a:r>
            <a:endParaRPr/>
          </a:p>
        </ns0:txBody>
      </ns0:sp>
      <ns0:sp>
        <ns0:nvSpPr>
          <ns0:cNvPr id="147" name="Google Shape;147;p16"/>
          <ns0:cNvSpPr txBox="1"/>
          <ns0:nvPr/>
        </ns0:nvSpPr>
        <ns0:spPr>
          <a:xfrm>
            <a:off x="1123950" y="4147300"/>
            <a:ext cx="2676525" cy="173124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Individual &amp; corporate </a:t>
            </a:r>
            <a:r>
              <a:rPr lang="en-US" sz="1125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donations</a:t>
            </a:r>
            <a:endParaRPr dirty="0"/>
          </a:p>
        </ns0:txBody>
      </ns0:sp>
      <ns0:sp>
        <ns0:nvSpPr>
          <ns0:cNvPr id="148" name="Google Shape;148;p16"/>
          <ns0:cNvSpPr txBox="1"/>
          <ns0:nvPr/>
        </ns0:nvSpPr>
        <ns0:spPr>
          <a:xfrm>
            <a:off x="1123950" y="443865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API developer alpha</a:t>
            </a:r>
            <a:endParaRPr/>
          </a:p>
        </ns0:txBody>
      </ns0:sp>
      <ns0:sp>
        <ns0:nvSpPr>
          <ns0:cNvPr id="149" name="Google Shape;149;p16"/>
          <ns0:cNvSpPr txBox="1"/>
          <ns0:nvPr/>
        </ns0:nvSpPr>
        <ns0:spPr>
          <a:xfrm>
            <a:off x="4857750" y="384810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Launch of premium tools</a:t>
            </a:r>
            <a:endParaRPr/>
          </a:p>
        </ns0:txBody>
      </ns0:sp>
      <ns0:sp>
        <ns0:nvSpPr>
          <ns0:cNvPr id="150" name="Google Shape;150;p16"/>
          <ns0:cNvSpPr txBox="1"/>
          <ns0:nvPr/>
        </ns0:nvSpPr>
        <ns0:spPr>
          <a:xfrm>
            <a:off x="4857750" y="4143375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B2B API contracts</a:t>
            </a:r>
            <a:endParaRPr/>
          </a:p>
        </ns0:txBody>
      </ns0:sp>
      <ns0:sp>
        <ns0:nvSpPr>
          <ns0:cNvPr id="151" name="Google Shape;151;p16"/>
          <ns0:cNvSpPr txBox="1"/>
          <ns0:nvPr/>
        </ns0:nvSpPr>
        <ns0:spPr>
          <a:xfrm>
            <a:off x="4857750" y="443865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reduction in query cost</a:t>
            </a:r>
            <a:endParaRPr/>
          </a:p>
        </ns0:txBody>
      </ns0:sp>
      <ns0:sp>
        <ns0:nvSpPr>
          <ns0:cNvPr id="152" name="Google Shape;152;p16"/>
          <ns0:cNvSpPr txBox="1"/>
          <ns0:nvPr/>
        </ns0:nvSpPr>
        <ns0:spPr>
          <a:xfrm>
            <a:off x="8591550" y="384810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Management target: scale to 1M daily active users</a:t>
            </a:r>
            <a:endParaRPr/>
          </a:p>
        </ns0:txBody>
      </ns0:sp>
      <ns0:sp>
        <ns0:nvSpPr>
          <ns0:cNvPr id="153" name="Google Shape;153;p16"/>
          <ns0:cNvSpPr txBox="1"/>
          <ns0:nvPr/>
        </ns0:nvSpPr>
        <ns0:spPr>
          <a:xfrm>
            <a:off x="8591550" y="4143375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institution licensing</a:t>
            </a:r>
            <a:endParaRPr/>
          </a:p>
        </ns0:txBody>
      </ns0:sp>
      <ns0:sp>
        <ns0:nvSpPr>
          <ns0:cNvPr id="154" name="Google Shape;154;p16"/>
          <ns0:cNvSpPr txBox="1"/>
          <ns0:nvPr/>
        </ns0:nvSpPr>
        <ns0:spPr>
          <a:xfrm>
            <a:off x="8591550" y="443865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operational self-sustainability</a:t>
            </a:r>
            <a:endParaRPr/>
          </a:p>
        </ns0:txBody>
      </ns0:sp>
      <ns0:pic>
        <ns0:nvPicPr>
          <ns0:cNvPr id="155" name="Google Shape;155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386715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6" name="Google Shape;156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4162425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7" name="Google Shape;157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445770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8" name="Google Shape;158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4657725" y="386715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9" name="Google Shape;159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4657725" y="4162425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0" name="Google Shape;160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4657725" y="445770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1" name="Google Shape;161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8391525" y="386715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2" name="Google Shape;162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8391525" y="4162425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3" name="Google Shape;163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8391525" y="445770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2" name="Google Shape;315;p23">
            <a:extLst>
              <a:ext uri="{FF2B5EF4-FFF2-40B4-BE49-F238E27FC236}">
                <ns2:creationId id="{0ADE1DFE-978A-A39C-DC9B-E8B460B28E47}"/>
              </a:ext>
            </a:extLst>
          </ns0:cNvPr>
          <ns0:cNvSpPr txBox="1"/>
          <ns0:nvPr/>
        </ns0:nvSpPr>
        <ns0:spPr>
          <a:xfrm>
            <a:off x="529590" y="548419"/>
            <a:ext cx="11601450" cy="53091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REVENUE PROJECTIONS</a:t>
            </a:r>
          </a:p>
        </ns0:txBody>
      </ns0:sp>
      <ns0:sp>
        <ns0:nvSpPr>
          <ns0:cNvPr id="14" name="Google Shape;316;p23">
            <a:extLst>
              <a:ext uri="{FF2B5EF4-FFF2-40B4-BE49-F238E27FC236}">
                <ns2:creationId id="{74BD54F7-F09F-5B4A-F9BB-EEF3F5314102}"/>
              </a:ext>
            </a:extLst>
          </ns0:cNvPr>
          <ns0:cNvSpPr/>
          <ns0:nvPr/>
        </ns0:nvSpPr>
        <ns0:spPr>
          <a:xfrm>
            <a:off x="529590" y="1185061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3" name="Google Shape;302;p23" descr="image.png">
            <a:extLst>
              <a:ext uri="{FF2B5EF4-FFF2-40B4-BE49-F238E27FC236}">
                <ns2:creationId id="{4CCFED5F-CFF8-764A-B39D-87CF00BC7E8B}"/>
              </a:ext>
            </a:extLst>
          </ns0:cNvPr>
          <ns0:cNvPicPr preferRelativeResize="0"/>
          <ns0:nvPr/>
        </ns0:nvPicPr>
        <ns0:blipFill rotWithShape="1">
          <a:blip ns3:embed="rId6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8" name="Google Shape;304;p23">
            <a:extLst>
              <a:ext uri="{FF2B5EF4-FFF2-40B4-BE49-F238E27FC236}">
                <ns2:creationId id="{741392B8-4651-16C0-2C72-95AADD302DA2}"/>
              </a:ext>
            </a:extLst>
          </ns0:cNvPr>
          <ns0:cNvSpPr txBox="1"/>
          <ns0:nvPr/>
        </ns0:nvSpPr>
        <ns0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12 / 15</a:t>
            </a:r>
            <a:endParaRPr dirty="0"/>
          </a:p>
        </ns0:txBody>
      </ns0:sp>
      <ns0:sp>
        <ns0:nvSpPr>
          <ns0:cNvPr id="5" name="Google Shape;90;p13">
            <a:extLst>
              <a:ext uri="{FF2B5EF4-FFF2-40B4-BE49-F238E27FC236}">
                <ns2:creationId id="{59761486-2E8B-6438-ADEC-BBCDD07C9619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9" name="Picture 8">
            <a:extLst>
              <a:ext uri="{FF2B5EF4-FFF2-40B4-BE49-F238E27FC236}">
                <ns2:creationId id="{5FD7C8C7-7B08-D934-411E-98D1D7A3AC90}"/>
              </a:ext>
            </a:extLst>
          </ns0:cNvPr>
          <ns0:cNvPicPr>
            <a:picLocks noChangeAspect="1"/>
          </ns0:cNvPicPr>
          <ns0:nvPr/>
        </ns0:nvPicPr>
        <ns0:blipFill>
          <a:blip ns3:embed="rId7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>
  <ns0:cSld>
    <ns0:spTree>
      <ns0:nvGrpSpPr>
        <ns0:cNvPr id="1" name="Shape 167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7" name="Google Shape;301;p23" descr="image.png">
            <a:extLst>
              <a:ext uri="{FF2B5EF4-FFF2-40B4-BE49-F238E27FC236}">
                <ns2:creationId id="{4618EA80-05CF-D196-2504-58692687D8C4}"/>
              </a:ext>
            </a:extLst>
          </ns0:cNvPr>
          <ns0:cNvPicPr preferRelativeResize="0"/>
          <ns0:nvPr/>
        </ns0:nvPicPr>
        <ns0:blipFill rotWithShape="1">
          <a:blip ns3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8" name="Google Shape;168;p17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6096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ns0:spPr>
      </ns0:pic>
      <ns0:pic>
        <ns0:nvPicPr>
          <ns0:cNvPr id="169" name="Google Shape;169;p17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43434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ns0:spPr>
      </ns0:pic>
      <ns0:pic>
        <ns0:nvPicPr>
          <ns0:cNvPr id="170" name="Google Shape;170;p17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80772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ns0:spPr>
      </ns0:pic>
      <ns0:sp>
        <ns0:nvSpPr>
          <ns0:cNvPr id="172" name="Google Shape;172;p17"/>
          <ns0:cNvSpPr txBox="1"/>
          <ns0:nvPr/>
        </ns0:nvSpPr>
        <ns0:spPr>
          <a:xfrm>
            <a:off x="529590" y="1263567"/>
            <a:ext cx="11521440" cy="4286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bg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Risk-Adjusted Returns &amp; Strategic Value</a:t>
            </a:r>
            <a:endParaRPr dirty="0">
              <a:solidFill>
                <a:schemeClr val="bg1"/>
              </a:solidFill>
            </a:endParaRPr>
          </a:p>
        </ns0:txBody>
      </ns0:sp>
      <ns0:pic>
        <ns0:nvPicPr>
          <ns0:cNvPr id="173" name="Google Shape;173;p17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3048000"/>
            <a:ext cx="457200" cy="4572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74" name="Google Shape;174;p17"/>
          <ns0:cNvSpPr txBox="1"/>
          <ns0:nvPr/>
        </ns0:nvSpPr>
        <ns0:spPr>
          <a:xfrm>
            <a:off x="923925" y="3695700"/>
            <a:ext cx="3020377" cy="2381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Equity Appreciation</a:t>
            </a:r>
            <a:endParaRPr/>
          </a:p>
        </ns0:txBody>
      </ns0:sp>
      <ns0:sp>
        <ns0:nvSpPr>
          <ns0:cNvPr id="175" name="Google Shape;175;p17"/>
          <ns0:cNvSpPr txBox="1"/>
          <ns0:nvPr/>
        </ns0:nvSpPr>
        <ns0:spPr>
          <a:xfrm>
            <a:off x="923925" y="4048125"/>
            <a:ext cx="2876550" cy="6858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Illustrative upside case: 5×–8× valuation expansion over five years, contingent on execution and recurring B2B revenue.</a:t>
            </a:r>
            <a:endParaRPr dirty="0"/>
          </a:p>
        </ns0:txBody>
      </ns0:sp>
      <ns0:pic>
        <ns0:nvPicPr>
          <ns0:cNvPr id="176" name="Google Shape;176;p17" descr="image.png"/>
          <ns0:cNvPicPr preferRelativeResize="0"/>
          <ns0:nvPr/>
        </ns0:nvPicPr>
        <ns0:blipFill rotWithShape="1">
          <a:blip ns3:embed="rId6">
            <a:alphaModFix/>
          </a:blip>
          <a:srcRect/>
          <a:stretch/>
        </ns0:blipFill>
        <ns0:spPr>
          <a:xfrm>
            <a:off x="4657725" y="3048000"/>
            <a:ext cx="457200" cy="4572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77" name="Google Shape;177;p17"/>
          <ns0:cNvSpPr txBox="1"/>
          <ns0:nvPr/>
        </ns0:nvSpPr>
        <ns0:spPr>
          <a:xfrm>
            <a:off x="4657725" y="3695700"/>
            <a:ext cx="3020377" cy="2381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Dividend / Profit Share</a:t>
            </a:r>
            <a:endParaRPr dirty="0"/>
          </a:p>
        </ns0:txBody>
      </ns0:sp>
      <ns0:sp>
        <ns0:nvSpPr>
          <ns0:cNvPr id="178" name="Google Shape;178;p17"/>
          <ns0:cNvSpPr txBox="1"/>
          <ns0:nvPr/>
        </ns0:nvSpPr>
        <ns0:spPr>
          <a:xfrm>
            <a:off x="4657725" y="4048125"/>
            <a:ext cx="2876550" cy="6858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Potential distributions only if permitted by final financing documents and approved after achieving sustainable surplus.</a:t>
            </a:r>
            <a:endParaRPr dirty="0"/>
          </a:p>
        </ns0:txBody>
      </ns0:sp>
      <ns0:pic>
        <ns0:nvPicPr>
          <ns0:cNvPr id="179" name="Google Shape;179;p17" descr="image.png"/>
          <ns0:cNvPicPr preferRelativeResize="0"/>
          <ns0:nvPr/>
        </ns0:nvPicPr>
        <ns0:blipFill rotWithShape="1">
          <a:blip ns3:embed="rId7">
            <a:alphaModFix/>
          </a:blip>
          <a:srcRect/>
          <a:stretch/>
        </ns0:blipFill>
        <ns0:spPr>
          <a:xfrm>
            <a:off x="8391525" y="3048000"/>
            <a:ext cx="457200" cy="4572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80" name="Google Shape;180;p17"/>
          <ns0:cNvSpPr txBox="1"/>
          <ns0:nvPr/>
        </ns0:nvSpPr>
        <ns0:spPr>
          <a:xfrm>
            <a:off x="8391525" y="3695700"/>
            <a:ext cx="3020377" cy="2381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Legacy</a:t>
            </a:r>
            <a:endParaRPr/>
          </a:p>
        </ns0:txBody>
      </ns0:sp>
      <ns0:sp>
        <ns0:nvSpPr>
          <ns0:cNvPr id="181" name="Google Shape;181;p17"/>
          <ns0:cNvSpPr txBox="1"/>
          <ns0:nvPr/>
        </ns0:nvSpPr>
        <ns0:spPr>
          <a:xfrm>
            <a:off x="8391525" y="4048125"/>
            <a:ext cx="2876550" cy="6858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Unprecedented strategic foothold in safeguarding verified Islamic knowledge infrastructure globally.</a:t>
            </a:r>
            <a:endParaRPr dirty="0"/>
          </a:p>
        </ns0:txBody>
      </ns0:sp>
      <ns0:pic>
        <ns0:nvPicPr>
          <ns0:cNvPr id="182" name="Google Shape;182;p17" descr="image.png"/>
          <ns0:cNvPicPr preferRelativeResize="0"/>
          <ns0:nvPr/>
        </ns0:nvPicPr>
        <ns0:blipFill rotWithShape="1">
          <a:blip ns3:embed="rId8">
            <a:alphaModFix/>
          </a:blip>
          <a:srcRect/>
          <a:stretch/>
        </ns0:blipFill>
        <ns0:spPr>
          <a:xfrm>
            <a:off x="1042987" y="3181350"/>
            <a:ext cx="219075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3" name="Google Shape;183;p17" descr="image.png"/>
          <ns0:cNvPicPr preferRelativeResize="0"/>
          <ns0:nvPr/>
        </ns0:nvPicPr>
        <ns0:blipFill rotWithShape="1">
          <a:blip ns3:embed="rId9">
            <a:alphaModFix/>
          </a:blip>
          <a:srcRect/>
          <a:stretch/>
        </ns0:blipFill>
        <ns0:spPr>
          <a:xfrm>
            <a:off x="4776787" y="3181350"/>
            <a:ext cx="219075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4" name="Google Shape;184;p17" descr="image.png"/>
          <ns0:cNvPicPr preferRelativeResize="0"/>
          <ns0:nvPr/>
        </ns0:nvPicPr>
        <ns0:blipFill rotWithShape="1">
          <a:blip ns3:embed="rId10">
            <a:alphaModFix/>
          </a:blip>
          <a:srcRect/>
          <a:stretch/>
        </ns0:blipFill>
        <ns0:spPr>
          <a:xfrm>
            <a:off x="8524875" y="3181350"/>
            <a:ext cx="190500" cy="1905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3" name="Google Shape;315;p23">
            <a:extLst>
              <a:ext uri="{FF2B5EF4-FFF2-40B4-BE49-F238E27FC236}">
                <ns2:creationId id="{3B6209A2-9A73-E93B-97C8-F25B537ACCA6}"/>
              </a:ext>
            </a:extLst>
          </ns0:cNvPr>
          <ns0:cNvSpPr txBox="1"/>
          <ns0:nvPr/>
        </ns0:nvSpPr>
        <ns0:spPr>
          <a:xfrm>
            <a:off x="529590" y="548419"/>
            <a:ext cx="11601450" cy="53091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INVESTOR ROI OUTLOOK</a:t>
            </a:r>
          </a:p>
        </ns0:txBody>
      </ns0:sp>
      <ns0:sp>
        <ns0:nvSpPr>
          <ns0:cNvPr id="5" name="Google Shape;316;p23">
            <a:extLst>
              <a:ext uri="{FF2B5EF4-FFF2-40B4-BE49-F238E27FC236}">
                <ns2:creationId id="{9502F3D3-6DBD-F175-7B95-B6E3EA07A78F}"/>
              </a:ext>
            </a:extLst>
          </ns0:cNvPr>
          <ns0:cNvSpPr/>
          <ns0:nvPr/>
        </ns0:nvSpPr>
        <ns0:spPr>
          <a:xfrm>
            <a:off x="529590" y="1185061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4" name="Google Shape;302;p23" descr="image.png">
            <a:extLst>
              <a:ext uri="{FF2B5EF4-FFF2-40B4-BE49-F238E27FC236}">
                <ns2:creationId id="{4F35EA43-7F37-4262-3DAF-F3DD25CB1F93}"/>
              </a:ext>
            </a:extLst>
          </ns0:cNvPr>
          <ns0:cNvPicPr preferRelativeResize="0"/>
          <ns0:nvPr/>
        </ns0:nvPicPr>
        <ns0:blipFill rotWithShape="1">
          <a:blip ns3:embed="rId11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0" name="Google Shape;304;p23">
            <a:extLst>
              <a:ext uri="{FF2B5EF4-FFF2-40B4-BE49-F238E27FC236}">
                <ns2:creationId id="{CB5F25EB-1971-BEE3-A1EB-D1E7108F7054}"/>
              </a:ext>
            </a:extLst>
          </ns0:cNvPr>
          <ns0:cNvSpPr txBox="1"/>
          <ns0:nvPr/>
        </ns0:nvSpPr>
        <ns0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13 / 15</a:t>
            </a:r>
            <a:endParaRPr dirty="0"/>
          </a:p>
        </ns0:txBody>
      </ns0:sp>
      <ns0:sp>
        <ns0:nvSpPr>
          <ns0:cNvPr id="6" name="Google Shape;90;p13">
            <a:extLst>
              <a:ext uri="{FF2B5EF4-FFF2-40B4-BE49-F238E27FC236}">
                <ns2:creationId id="{A3E0DF6D-D278-D0FC-BF8E-A651CE7D54C8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11" name="Picture 10">
            <a:extLst>
              <a:ext uri="{FF2B5EF4-FFF2-40B4-BE49-F238E27FC236}">
                <ns2:creationId id="{046C0D91-0878-A73D-3D33-3693B892DDAC}"/>
              </a:ext>
            </a:extLst>
          </ns0:cNvPr>
          <ns0:cNvPicPr>
            <a:picLocks noChangeAspect="1"/>
          </ns0:cNvPicPr>
          <ns0:nvPr/>
        </ns0:nvPicPr>
        <ns0:blipFill>
          <a:blip ns3:embed="rId12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295275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CONFIDENTIAL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295275" y="1495425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Investing in the integrity of Islamic knowledge</a:t>
            </a:r>
            <a:endParaRPr sz="1100" dirty="0"/>
          </a:p>
        </p:txBody>
      </p:sp>
      <p:sp>
        <p:nvSpPr>
          <p:cNvPr id="327" name="Google Shape;327;p24"/>
          <p:cNvSpPr txBox="1"/>
          <p:nvPr/>
        </p:nvSpPr>
        <p:spPr>
          <a:xfrm>
            <a:off x="571500" y="2122289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 dirty="0">
                <a:solidFill>
                  <a:srgbClr val="D1FAE5"/>
                </a:solidFill>
                <a:latin typeface="Lato Light"/>
                <a:ea typeface="Lato Light"/>
                <a:cs typeface="Lato Light"/>
                <a:sym typeface="Lato Light"/>
              </a:rPr>
              <a:t>The defensible position in authenticated Islamic AI</a:t>
            </a:r>
            <a:endParaRPr dirty="0"/>
          </a:p>
        </p:txBody>
      </p:sp>
      <p:sp>
        <p:nvSpPr>
          <p:cNvPr id="329" name="Google Shape;329;p24"/>
          <p:cNvSpPr txBox="1"/>
          <p:nvPr/>
        </p:nvSpPr>
        <p:spPr>
          <a:xfrm>
            <a:off x="11210925" y="6392638"/>
            <a:ext cx="6858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14 / </a:t>
            </a:r>
            <a:r>
              <a:rPr lang="en-US" sz="1050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15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CBA162-0395-620D-AB3A-5B93BFEC833E}"/>
              </a:ext>
            </a:extLst>
          </p:cNvPr>
          <p:cNvGrpSpPr/>
          <p:nvPr/>
        </p:nvGrpSpPr>
        <p:grpSpPr>
          <a:xfrm>
            <a:off x="4186237" y="2829710"/>
            <a:ext cx="3819525" cy="3084016"/>
            <a:chOff x="4186237" y="4255740"/>
            <a:chExt cx="3819525" cy="3084016"/>
          </a:xfrm>
        </p:grpSpPr>
        <p:pic>
          <p:nvPicPr>
            <p:cNvPr id="323" name="Google Shape;323;p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86237" y="4255740"/>
              <a:ext cx="3819525" cy="3084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4"/>
            <p:cNvSpPr txBox="1"/>
            <p:nvPr/>
          </p:nvSpPr>
          <p:spPr>
            <a:xfrm>
              <a:off x="4576762" y="4646265"/>
              <a:ext cx="3190398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 dirty="0">
                  <a:solidFill>
                    <a:srgbClr val="FBBF24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Shaikh Javed Mahmood</a:t>
              </a:r>
              <a:endParaRPr dirty="0"/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4576762" y="507489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6EE7B7"/>
                  </a:solidFill>
                  <a:latin typeface="Lato"/>
                  <a:ea typeface="Lato"/>
                  <a:cs typeface="Lato"/>
                  <a:sym typeface="Lato"/>
                </a:rPr>
                <a:t>FOUNDER &amp; CEO</a:t>
              </a:r>
              <a:endParaRPr dirty="0"/>
            </a:p>
          </p:txBody>
        </p:sp>
        <p:sp>
          <p:nvSpPr>
            <p:cNvPr id="332" name="Google Shape;332;p24"/>
            <p:cNvSpPr txBox="1"/>
            <p:nvPr/>
          </p:nvSpPr>
          <p:spPr>
            <a:xfrm>
              <a:off x="4576762" y="5570190"/>
              <a:ext cx="3038475" cy="39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Iqra.live</a:t>
              </a:r>
              <a:endParaRPr/>
            </a:p>
          </p:txBody>
        </p:sp>
        <p:sp>
          <p:nvSpPr>
            <p:cNvPr id="333" name="Google Shape;333;p24"/>
            <p:cNvSpPr txBox="1"/>
            <p:nvPr/>
          </p:nvSpPr>
          <p:spPr>
            <a:xfrm>
              <a:off x="4576762" y="6061620"/>
              <a:ext cx="3038475" cy="39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contact@iqra.live</a:t>
              </a:r>
              <a:endParaRPr dirty="0"/>
            </a:p>
          </p:txBody>
        </p:sp>
        <p:sp>
          <p:nvSpPr>
            <p:cNvPr id="334" name="Google Shape;334;p24"/>
            <p:cNvSpPr txBox="1"/>
            <p:nvPr/>
          </p:nvSpPr>
          <p:spPr>
            <a:xfrm>
              <a:off x="4576762" y="6553051"/>
              <a:ext cx="3038475" cy="304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+880 1771144221</a:t>
              </a:r>
              <a:endParaRPr dirty="0"/>
            </a:p>
          </p:txBody>
        </p:sp>
      </p:grpSp>
      <p:pic>
        <p:nvPicPr>
          <p:cNvPr id="3" name="Picture 2" descr="Website Icon, Transparent Website.PNG Images &amp; Vector - FreeIconsPNG">
            <a:extLst>
              <a:ext uri="{FF2B5EF4-FFF2-40B4-BE49-F238E27FC236}">
                <a16:creationId xmlns:a16="http://schemas.microsoft.com/office/drawing/2014/main" id="{1CB354DB-A68B-3254-3D82-865937C21BB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479" y="4345483"/>
            <a:ext cx="228543" cy="228543"/>
          </a:xfrm>
          <a:prstGeom prst="rect">
            <a:avLst/>
          </a:prstGeom>
        </p:spPr>
      </p:pic>
      <p:pic>
        <p:nvPicPr>
          <p:cNvPr id="5" name="Picture 4" descr="Email PNG Download, Email Logo, Icon, Email Symbol, @ PNG - Free ...">
            <a:extLst>
              <a:ext uri="{FF2B5EF4-FFF2-40B4-BE49-F238E27FC236}">
                <a16:creationId xmlns:a16="http://schemas.microsoft.com/office/drawing/2014/main" id="{2FB6B141-1D5E-91CB-1D66-470C68992CA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28784" y="4784995"/>
            <a:ext cx="274320" cy="274320"/>
          </a:xfrm>
          <a:prstGeom prst="rect">
            <a:avLst/>
          </a:prstGeom>
        </p:spPr>
      </p:pic>
      <p:pic>
        <p:nvPicPr>
          <p:cNvPr id="6" name="Picture 5" descr="Call Icon, Contact Mark, Message Alert, Dialer Graphic, Connection ...">
            <a:extLst>
              <a:ext uri="{FF2B5EF4-FFF2-40B4-BE49-F238E27FC236}">
                <a16:creationId xmlns:a16="http://schemas.microsoft.com/office/drawing/2014/main" id="{DD0D100D-DCCD-2758-34AD-05B745D6F5B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49590" y="5267173"/>
            <a:ext cx="274320" cy="274320"/>
          </a:xfrm>
          <a:prstGeom prst="rect">
            <a:avLst/>
          </a:prstGeom>
        </p:spPr>
      </p:pic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DDBBA7B1-41F8-A15C-D8A3-19C2FE3BC83D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92F32D-7527-3BAA-DB01-59B7C560ED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1173</Words>
  <Application>Microsoft Office PowerPoint</Application>
  <PresentationFormat>Widescreen</PresentationFormat>
  <Paragraphs>153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Fraunces</vt:lpstr>
      <vt:lpstr>Plus Jakarta Sans</vt:lpstr>
      <vt:lpstr>Playfair Display</vt:lpstr>
      <vt:lpstr>Calibri</vt:lpstr>
      <vt:lpstr>Plus Jakarta Sans ExtraBold</vt:lpstr>
      <vt:lpstr>Playfair Display SemiBold</vt:lpstr>
      <vt:lpstr>Lato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Reels Limited</cp:lastModifiedBy>
  <cp:revision>9</cp:revision>
  <dcterms:modified xsi:type="dcterms:W3CDTF">2026-09-01T06:03:00Z</dcterms:modified>
</cp:coreProperties>
</file>